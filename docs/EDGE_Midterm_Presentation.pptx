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fb9000d6494372" /><Relationship Type="http://schemas.openxmlformats.org/officeDocument/2006/relationships/extended-properties" Target="/docProps/app.xml" Id="Rb9f7429f92764f23" /><Relationship Type="http://schemas.openxmlformats.org/officeDocument/2006/relationships/officeDocument" Target="/ppt/presentation.xml" Id="Rd76aceb3e620487e" /></Relationships>
</file>

<file path=ppt/presentation.xml><?xml version="1.0" encoding="utf-8"?>
<p:presentation xmlns:p="http://schemas.openxmlformats.org/presentationml/2006/main">
  <p:sldMasterIdLst>
    <p:sldMasterId xmlns:r="http://schemas.openxmlformats.org/officeDocument/2006/relationships" id="2147483648" r:id="R545014c767a842c9"/>
  </p:sldMasterIdLst>
  <p:notesMasterIdLst>
    <p:notesMasterId xmlns:r="http://schemas.openxmlformats.org/officeDocument/2006/relationships" r:id="Re6a3e685edf0400a"/>
  </p:notesMasterIdLst>
  <p:sldIdLst>
    <p:sldId xmlns:r="http://schemas.openxmlformats.org/officeDocument/2006/relationships" id="256" r:id="R1b794081d90e4314"/>
    <p:sldId xmlns:r="http://schemas.openxmlformats.org/officeDocument/2006/relationships" id="257" r:id="Rea895dcf4b0543eb"/>
    <p:sldId xmlns:r="http://schemas.openxmlformats.org/officeDocument/2006/relationships" id="258" r:id="R0d501dd2d1724ecb"/>
    <p:sldId xmlns:r="http://schemas.openxmlformats.org/officeDocument/2006/relationships" id="259" r:id="Rd576f12ae0034f61"/>
    <p:sldId xmlns:r="http://schemas.openxmlformats.org/officeDocument/2006/relationships" id="260" r:id="R7cdca6618c34461f"/>
    <p:sldId xmlns:r="http://schemas.openxmlformats.org/officeDocument/2006/relationships" id="261" r:id="R7a391bdfe45c41b1"/>
    <p:sldId xmlns:r="http://schemas.openxmlformats.org/officeDocument/2006/relationships" id="262" r:id="R52b70b36c6e948be"/>
    <p:sldId xmlns:r="http://schemas.openxmlformats.org/officeDocument/2006/relationships" id="263" r:id="R7b2fe7ef3525474b"/>
    <p:sldId xmlns:r="http://schemas.openxmlformats.org/officeDocument/2006/relationships" id="264" r:id="R20875da498884ab7"/>
    <p:sldId xmlns:r="http://schemas.openxmlformats.org/officeDocument/2006/relationships" id="265" r:id="Rbb8dcf0b868448f3"/>
    <p:sldId xmlns:r="http://schemas.openxmlformats.org/officeDocument/2006/relationships" id="266" r:id="Rf68cd5bfd2c74e22"/>
    <p:sldId xmlns:r="http://schemas.openxmlformats.org/officeDocument/2006/relationships" id="267" r:id="R8d4e2390b49044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dae0e684aa424a" /><Relationship Type="http://schemas.openxmlformats.org/officeDocument/2006/relationships/slideMaster" Target="/ppt/slideMasters/slideMaster1.xml" Id="R545014c767a842c9" /><Relationship Type="http://schemas.openxmlformats.org/officeDocument/2006/relationships/notesMaster" Target="/ppt/notesMasters/notesMaster1.xml" Id="Re6a3e685edf0400a" /><Relationship Type="http://schemas.openxmlformats.org/officeDocument/2006/relationships/presProps" Target="/ppt/presProps.xml" Id="R5daf287ffbdb474c" /><Relationship Type="http://schemas.openxmlformats.org/officeDocument/2006/relationships/tableStyles" Target="/ppt/tableStyles.xml" Id="Rf26c78f00660497b" /><Relationship Type="http://schemas.openxmlformats.org/officeDocument/2006/relationships/slide" Target="/ppt/slides/slide1.xml" Id="R1b794081d90e4314" /><Relationship Type="http://schemas.openxmlformats.org/officeDocument/2006/relationships/slide" Target="/ppt/slides/slide2.xml" Id="Rea895dcf4b0543eb" /><Relationship Type="http://schemas.openxmlformats.org/officeDocument/2006/relationships/slide" Target="/ppt/slides/slide3.xml" Id="R0d501dd2d1724ecb" /><Relationship Type="http://schemas.openxmlformats.org/officeDocument/2006/relationships/slide" Target="/ppt/slides/slide4.xml" Id="Rd576f12ae0034f61" /><Relationship Type="http://schemas.openxmlformats.org/officeDocument/2006/relationships/slide" Target="/ppt/slides/slide5.xml" Id="R7cdca6618c34461f" /><Relationship Type="http://schemas.openxmlformats.org/officeDocument/2006/relationships/slide" Target="/ppt/slides/slide6.xml" Id="R7a391bdfe45c41b1" /><Relationship Type="http://schemas.openxmlformats.org/officeDocument/2006/relationships/slide" Target="/ppt/slides/slide7.xml" Id="R52b70b36c6e948be" /><Relationship Type="http://schemas.openxmlformats.org/officeDocument/2006/relationships/slide" Target="/ppt/slides/slide8.xml" Id="R7b2fe7ef3525474b" /><Relationship Type="http://schemas.openxmlformats.org/officeDocument/2006/relationships/slide" Target="/ppt/slides/slide9.xml" Id="R20875da498884ab7" /><Relationship Type="http://schemas.openxmlformats.org/officeDocument/2006/relationships/slide" Target="/ppt/slides/slide10.xml" Id="Rbb8dcf0b868448f3" /><Relationship Type="http://schemas.openxmlformats.org/officeDocument/2006/relationships/slide" Target="/ppt/slides/slide11.xml" Id="Rf68cd5bfd2c74e22" /><Relationship Type="http://schemas.openxmlformats.org/officeDocument/2006/relationships/slide" Target="/ppt/slides/slide12.xml" Id="R8d4e2390b49044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130180f1f648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e9297d803d436c" /><Relationship Type="http://schemas.openxmlformats.org/officeDocument/2006/relationships/notesMaster" Target="/ppt/notesMasters/notesMaster1.xml" Id="R533cb9ab3e694d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b9c4562c534a4d" /><Relationship Type="http://schemas.openxmlformats.org/officeDocument/2006/relationships/notesMaster" Target="/ppt/notesMasters/notesMaster1.xml" Id="R6d95c21bab7e4d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6808be2c0c4010" /><Relationship Type="http://schemas.openxmlformats.org/officeDocument/2006/relationships/notesMaster" Target="/ppt/notesMasters/notesMaster1.xml" Id="Rcec3027133c04a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adf6dde7015406c" /><Relationship Type="http://schemas.openxmlformats.org/officeDocument/2006/relationships/notesMaster" Target="/ppt/notesMasters/notesMaster1.xml" Id="R17a02699bf2c4c3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7dad24ed3a4ccf" /><Relationship Type="http://schemas.openxmlformats.org/officeDocument/2006/relationships/notesMaster" Target="/ppt/notesMasters/notesMaster1.xml" Id="Rd00238eb6c7949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8e3e802bf24dfe" /><Relationship Type="http://schemas.openxmlformats.org/officeDocument/2006/relationships/notesMaster" Target="/ppt/notesMasters/notesMaster1.xml" Id="R0b92b60fbd0441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4d2f01fb894d2b" /><Relationship Type="http://schemas.openxmlformats.org/officeDocument/2006/relationships/notesMaster" Target="/ppt/notesMasters/notesMaster1.xml" Id="R25c69d963e9749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d9db2e40b24d29" /><Relationship Type="http://schemas.openxmlformats.org/officeDocument/2006/relationships/notesMaster" Target="/ppt/notesMasters/notesMaster1.xml" Id="Rb40df3f14fe341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528699b57e41aa" /><Relationship Type="http://schemas.openxmlformats.org/officeDocument/2006/relationships/notesMaster" Target="/ppt/notesMasters/notesMaster1.xml" Id="R07345ed490c943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fcb460e78e42a0" /><Relationship Type="http://schemas.openxmlformats.org/officeDocument/2006/relationships/notesMaster" Target="/ppt/notesMasters/notesMaster1.xml" Id="R4870209dd7e44a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b40271741b94e6c" /><Relationship Type="http://schemas.openxmlformats.org/officeDocument/2006/relationships/notesMaster" Target="/ppt/notesMasters/notesMaster1.xml" Id="R0a60bac81c8445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7640bc0ac2428c" /><Relationship Type="http://schemas.openxmlformats.org/officeDocument/2006/relationships/notesMaster" Target="/ppt/notesMasters/notesMaster1.xml" Id="R897a1639787d40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minutes.</a:t>
            </a:r>
          </a:p>
          <a:p xmlns:a="http://schemas.openxmlformats.org/drawingml/2006/main">
            <a:r>
              <a:t/>
            </a:r>
          </a:p>
          <a:p xmlns:a="http://schemas.openxmlformats.org/drawingml/2006/main">
            <a:r>
              <a:t>Introduce the measurement problem: a trade price includes both changes in fundamental value and the cost of crossing the bid–ask spread. High-frequency trades and quotes can measure those costs, but many research settings only have daily open, high, low and close prices. EDGE attempts to use those four prices efficiently. This project checks the estimator in a controlled simulation, then asks how it behaves in a small observed sample. State the main result immediately: the original simulation is reproduced, while daily empirical agreement in this five-stock pilot is weak. The intraday extension finds larger opening-window errors. These findings answer different questions. Reproducing a simulation establishes that the code matches the authors’ experiment; it does not establish that every empirical setting produces accurate estimates. The presentation will keep that distinction throughout. Explain that all empirical results are descriptive and that licensed source records are excluded from the public repository.</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minutes.</a:t>
            </a:r>
          </a:p>
          <a:p xmlns:a="http://schemas.openxmlformats.org/drawingml/2006/main">
            <a:r>
              <a:t/>
            </a:r>
          </a:p>
          <a:p xmlns:a="http://schemas.openxmlformats.org/drawingml/2006/main">
            <a:r>
              <a:t>Describe the three workstreams and why their evidence should not be pooled. First, the simulation has a known spread, so estimation bias and dispersion can be measured directly. Second, monthly EDGE estimates are compared with a benchmark constructed from daily WRDS intraday indicators. Third, the extension reconstructs minute OHLC bars from raw trades and uses raw quotes to form an interval benchmark. The daily sample covers January through June 2024 for Apple, Microsoft, JPMorgan, Exxon Mobil and NVIDIA. The extension selects one announcement and a nearby control for each company, with two earnings-adjacent sessions per announcement. This creates fifteen stock-days and forty-five candidate half-hour intervals. The scope is deliberately smaller than the paper’s full empirical universe. Discuss the advantage of inspecting source records and matching rules carefully, and the corresponding limitation: five companies and one event each cannot establish broad statistical regularities or causal effects.</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minutes.</a:t>
            </a:r>
          </a:p>
          <a:p xmlns:a="http://schemas.openxmlformats.org/drawingml/2006/main">
            <a:r>
              <a:t/>
            </a:r>
          </a:p>
          <a:p xmlns:a="http://schemas.openxmlformats.org/drawingml/2006/main">
            <a:r>
              <a:t>Explain the intuition without claiming that the high–low range is itself the spread. Price movements arise from efficient-price variation and trading on different sides of the market. The estimator combines information in the relationships among opening, high, low and closing prices. The authors derive multiple spread-related moment conditions and combine them to improve efficiency. We use the pinned author implementation rather than inventing a replacement formula. The implementation can produce a negative signed estimate in a finite sample; the project’s reported convention truncates such estimates to zero. That convention is preserved in both R and Python, and it matters empirically because many short-window estimates become zero. A zero estimate therefore does not mean that an investor can trade without cost. Clarify units: all internal spreads are decimal ratios; multiplying by ten thousand produces basis points. One basis point is one hundredth of one percent. The simulation supplies a known truth; market data require a benchmark whose construction must also be checked.</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 minutes.</a:t>
            </a:r>
          </a:p>
          <a:p xmlns:a="http://schemas.openxmlformats.org/drawingml/2006/main">
            <a:r>
              <a:t/>
            </a:r>
          </a:p>
          <a:p xmlns:a="http://schemas.openxmlformats.org/drawingml/2006/main">
            <a:r>
              <a:t>Walk through the table. Under frequent trading, the published mean is 0.90 percent and the reproduced unrounded mean is approximately 0.8961 percent. Under infrequent trading, the reproduced mean is approximately 0.9524 percent, matching the published 0.95 percent. The corresponding standard deviations also agree at printed precision. Do not interpret the closer infrequent-trading mean as a general improvement: its standard deviation is substantially larger, and the fraction of zero estimates rises. Across all five true spreads, two trading probabilities and eight methods, all 160 mean and standard-deviation cells in the published PDF match. The author package also reports zero fractions, yielding 240 matching cells. Printed-precision agreement is the correct claim; the published PDF does not expose all unrounded reference values. Explain the preserved random seed, original scenario order, 390 potential trades per day, 21-day windows and three-percent daily volatility. These controls make this a reproduction rather than a visually similar simulation.</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minutes.</a:t>
            </a:r>
          </a:p>
          <a:p xmlns:a="http://schemas.openxmlformats.org/drawingml/2006/main">
            <a:r>
              <a:t/>
            </a:r>
          </a:p>
          <a:p xmlns:a="http://schemas.openxmlformats.org/drawingml/2006/main">
            <a:r>
              <a:t>Start with the source counts. CRSP supplies 620 retained common-stock days, or 124 days for each of five companies. The IID download contains 1,364 records because the symbol query also returns JPMorgan preferred-share suffixes. Removing 744 preferred-share records leaves 620 common-stock records with complete daily overlap. Each calendar month contains nineteen to twenty-two observations per stock. Explain why the NVIDIA split matters: prices are divided by the cumulative price adjustment factor, but dollar turnover is computed with unadjusted close times actual volume. Mixing adjusted prices with raw volume would distort turnover. The IID field name includes Percent, yet the manual formula defines a decimal ratio; blindly dividing by one hundred would introduce a units error. Finally describe the monthly benchmark: retain positive daily spreads, apply a one-sided 99.5-percent cap within the available five-stock monthly sample, and compute RMS by stock-month. This cap is narrower than the paper’s full-universe treatment, a documented scope difference.</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 minutes.</a:t>
            </a:r>
          </a:p>
          <a:p xmlns:a="http://schemas.openxmlformats.org/drawingml/2006/main">
            <a:r>
              <a:t/>
            </a:r>
          </a:p>
          <a:p xmlns:a="http://schemas.openxmlformats.org/drawingml/2006/main">
            <a:r>
              <a:t>Pause on these results. Across thirty matched stock-months, the Pearson correlation is about 0.03 and linear-spread root mean squared error is about 38 basis points. Sixteen monthly estimates are zero under the prescribed truncation rule. Some remaining estimates are large enough to dominate the error. This is a negative empirical finding in the chosen sample, not a reason to select different stocks after observing the result. The complete thirty-month vector was independently computed with the pinned R implementation and matches Python to numerical precision, so an implementation-language mismatch is not the explanation. Plausible limitations include short monthly samples, small underlying spreads, volatility and a restricted cross-section. These mechanisms were not separately identified. The project reports linear-spread RMSE, not the paper’s log-spread RMSE, and it uses independent calendar-month windows. The local scatterplot and stock-month rows allow an authorized user to inspect the pattern; the public package reports aggregate statistics. Explain why both a correlation and an error scale are needed.</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 minutes.</a:t>
            </a:r>
          </a:p>
          <a:p xmlns:a="http://schemas.openxmlformats.org/drawingml/2006/main">
            <a:r>
              <a:t/>
            </a:r>
          </a:p>
          <a:p xmlns:a="http://schemas.openxmlformats.org/drawingml/2006/main">
            <a:r>
              <a:t>Describe the reconstruction in sequence. Raw trades are filtered on correction status, permitted sale conditions, positive price and positive size. Quotes must have valid positive bid and ask values and a sensible market. Each trade matches the latest strictly preceding valid quote, subject to a maximum age of five seconds. Equal timestamps are not treated as proof of ordering. Because Complete NBBO does not expose a usable sequence in this export, tied quote timestamps are marked ambiguous. Invalid updates remain barriers: otherwise deleting an invalid update could incorrectly allow an older good quote to survive. The matched midpoint defines the absolute effective spread, and the interval benchmark is the root mean square across valid matched trades over the same valid-minute horizon as EDGE. The arithmetic mean is stored separately. Explain that these decisions prevent obvious stale or future matches, but do not resolve SIP-versus-participant timestamp latency bias. That limitation is especially relevant to post-2015 TAQ data and is disclosed.</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minutes.</a:t>
            </a:r>
          </a:p>
          <a:p xmlns:a="http://schemas.openxmlformats.org/drawingml/2006/main">
            <a:r>
              <a:t/>
            </a:r>
          </a:p>
          <a:p xmlns:a="http://schemas.openxmlformats.org/drawingml/2006/main">
            <a:r>
              <a:t>Walk through the event table and point out that earnings-adjacent does not mean strictly before or after the information release. Company investor-relations material verifies the announcement dates; quarterly Compustat RDQ corroborates them and provides a surrounding calendar for control selection. Exact release times were not established. Microsoft and Apple have adjacent sessions on either side of the calendar announcement date, while some companies include the announcement session itself. The labels therefore remain broad and honest. The CRSP/Compustat merged link table was inaccessible. Four companies have matching CUSIPs in the downloaded records; Exxon has a mismatch between the Compustat download and the historical CRSP identifier. That mismatch is retained explicitly rather than silently overwritten. The Exxon event uses the verified company announcement and point-in-time security identity as a fallback. Controls are screened against the available quarterly announcement calendar, but this does not imply the absence of all other news. The sample is a case-study comparison.</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minutes.</a:t>
            </a:r>
          </a:p>
          <a:p xmlns:a="http://schemas.openxmlformats.org/drawingml/2006/main">
            <a:r>
              <a:t/>
            </a:r>
          </a:p>
          <a:p xmlns:a="http://schemas.openxmlformats.org/drawingml/2006/main">
            <a:r>
              <a:t>Explain the processing counts as a transparent audit trail. The selected windows contain about 3.04 million raw trades and 3.21 million Complete NBBO updates. Trade filters retain 2,986,751 records, and 2,940,428 match a valid quote under the stated rules. All forty-five candidate intervals have thirty valid minute bars, but bar availability is not sufficient by itself. The quote-match gate is ninety percent. One Apple control midday interval has an 89.671-percent match rate and is excluded. Its result row is retained with a failed status, and the threshold was not relaxed. This produces five control opening intervals, four control midday intervals and five control closing intervals; each earnings-adjacent category has ten. Nineteen accepted EDGE estimates are zero. Mention the Microsoft full-day pilot used to validate extraction and matching before expanding the sample. The fixed gates support a reproducible sample definition but do not establish that every accepted interval is free of all microstructure bias.</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2 minutes.</a:t>
            </a:r>
          </a:p>
          <a:p xmlns:a="http://schemas.openxmlformats.org/drawingml/2006/main">
            <a:r>
              <a:t/>
            </a:r>
          </a:p>
          <a:p xmlns:a="http://schemas.openxmlformats.org/drawingml/2006/main">
            <a:r>
              <a:t>Read the chart carefully. For control sessions, median absolute errors are about 2.35 basis points at the open, 0.79 at midday and 0.55 near the close. For earnings-adjacent sessions, the corresponding values are 4.11, 0.43 and 0.58. Opening windows have the largest medians in both groups. The earnings-adjacent opening median exceeds the control opening median, but this is descriptive evidence from a tiny and unbalanced sample. It is not an estimated causal earnings effect. Midday earnings-adjacent error is actually smaller than its control counterpart, so the chart does not support a uniform statement that earnings always worsen estimation. Error differences may reflect volatility, activity, true spreads or common news. The graph reports medians rather than uncertainty intervals because the design is too small to support strong population claims. Remind the audience that there are four control midday intervals after the fixed exclusion, five in the other control categories and ten in each adjacent category.</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minutes.</a:t>
            </a:r>
          </a:p>
          <a:p xmlns:a="http://schemas.openxmlformats.org/drawingml/2006/main">
            <a:r>
              <a:t/>
            </a:r>
          </a:p>
          <a:p xmlns:a="http://schemas.openxmlformats.org/drawingml/2006/main">
            <a:r>
              <a:t>Separate implementation checks from research claims. The original simulation matches published results; units, price adjustments, duplicate handling and temporal matching are tested; monthly and interval benchmarks are independently recomputed; and raw quote matches have deterministic spot checks. Those checks make the implementation inspectable. They do not make five stocks representative of the market. The five-stock winsorization differs from the paper’s universe, the daily and intraday effective-spread formulas are related but not identical, and SIP timing remains a limitation. Exact release times and an independent halt registry were not acquired. Session calendars and coverage checks apply to the measured windows, not to a claim that no halt occurred anywhere else in the day. The next research steps would verify release timestamps, compare participant-time matching, assess sensitivity to match and bar thresholds, and expand the sample. These are future checks and should not be presented as completed. Emphasize that retaining weak results and exclusions is part of a credible replication.</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1.5 minutes.</a:t>
            </a:r>
          </a:p>
          <a:p xmlns:a="http://schemas.openxmlformats.org/drawingml/2006/main">
            <a:r>
              <a:t/>
            </a:r>
          </a:p>
          <a:p xmlns:a="http://schemas.openxmlformats.org/drawingml/2006/main">
            <a:r>
              <a:t>Close by explaining exactly what another person can reproduce. The public repository includes the original author code, pinned dependency specifications, extraction and normalization code, event selections, methodology, data dictionary, simulation results and aggregate report. Installing the dependencies is enough to rerun the simulation. Reproducing the empirical analysis additionally requires the user’s own WRDS access and the documented input extracts; those records cannot be assumed to arrive with a clone. Outputs are protected against accidental overwrite, and source hashes and audit counts identify the data used. The project’s main conclusion is that the simulation reproduces successfully while this small daily empirical comparison is weak, and opening intervals show larger median errors in the extension. For the midterm, these twelve slides and notes provide a twenty-minute walkthrough. The student still needs to record the presentation and submit it to Canvas. End with the repository link and invite questions about benchmark construction, sample limitations or how to extend the study.</a:t>
            </a:r>
          </a:p>
          <a:p xmlns:a="http://schemas.openxmlformats.org/drawingml/2006/main">
            <a:r>
              <a:t/>
            </a:r>
          </a:p>
          <a:p xmlns:a="http://schemas.openxmlformats.org/drawingml/2006/main">
            <a:r>
              <a:t>Sources: REPORT.md; docs/methodology.md; https://github.com/LQ-09/edge-replication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67f680ec9441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c6e29fa9ad42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f7fde30774649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fb9c8d7f7c49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8778e0a3c694d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e580343a4444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529995-C90A-40CF-A05D-1A11C6ABD4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EA10A7-EEFF-4335-A0AD-77FF12FD60B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B4F3AF-B946-4CFF-8A15-04C9256E77D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103B39-CFB8-41CE-AA9C-A9015FEB5E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763548-DEBA-44EB-82FA-A221C80949A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906B207-7D1D-49AB-AA7B-479F5C6251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8F1FB3-8151-4A1A-9B15-E2F9BEFF80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A9697C3-361F-4012-9609-A7DA514386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14C692-6269-4586-9CB7-EB28938F1D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0C64F2-269A-4BA4-A7C8-C342D153EA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9901093a704aa1" /><Relationship Type="http://schemas.openxmlformats.org/officeDocument/2006/relationships/slideLayout" Target="/ppt/slideLayouts/slideLayout1.xml" Id="Rd4cdd91edba84bdf" /><Relationship Type="http://schemas.openxmlformats.org/officeDocument/2006/relationships/slideLayout" Target="/ppt/slideLayouts/slideLayout2.xml" Id="R90f4014ba1bb48e2" /><Relationship Type="http://schemas.openxmlformats.org/officeDocument/2006/relationships/slideLayout" Target="/ppt/slideLayouts/slideLayout3.xml" Id="R6a3c7d0fde7444b8" /><Relationship Type="http://schemas.openxmlformats.org/officeDocument/2006/relationships/slideLayout" Target="/ppt/slideLayouts/slideLayout4.xml" Id="Rfe49bf9747f6471f" /><Relationship Type="http://schemas.openxmlformats.org/officeDocument/2006/relationships/slideLayout" Target="/ppt/slideLayouts/slideLayout5.xml" Id="R37d023b04739483a" /><Relationship Type="http://schemas.openxmlformats.org/officeDocument/2006/relationships/slideLayout" Target="/ppt/slideLayouts/slideLayout6.xml" Id="R81f8b0163a404ea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cdd91edba84bdf"/>
    <p:sldLayoutId xmlns:r="http://schemas.openxmlformats.org/officeDocument/2006/relationships" id="2147483650" r:id="R90f4014ba1bb48e2"/>
    <p:sldLayoutId xmlns:r="http://schemas.openxmlformats.org/officeDocument/2006/relationships" id="2147483651" r:id="R6a3c7d0fde7444b8"/>
    <p:sldLayoutId xmlns:r="http://schemas.openxmlformats.org/officeDocument/2006/relationships" id="2147483652" r:id="Rfe49bf9747f6471f"/>
    <p:sldLayoutId xmlns:r="http://schemas.openxmlformats.org/officeDocument/2006/relationships" id="2147483653" r:id="R37d023b04739483a"/>
    <p:sldLayoutId xmlns:r="http://schemas.openxmlformats.org/officeDocument/2006/relationships" id="2147483654" r:id="R81f8b0163a404ea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3e8d129a244b1e" /><Relationship Type="http://schemas.openxmlformats.org/officeDocument/2006/relationships/notesSlide" Target="/ppt/notesSlides/notesSlide1.xml" Id="Rb9bf8bdd459b4a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56e45022d24f1a" /><Relationship Type="http://schemas.openxmlformats.org/officeDocument/2006/relationships/notesSlide" Target="/ppt/notesSlides/notesSlide2.xml" Id="R7ed5b8c0e0d948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d1037e96e774552" /><Relationship Type="http://schemas.openxmlformats.org/officeDocument/2006/relationships/notesSlide" Target="/ppt/notesSlides/notesSlide3.xml" Id="R28f555b7e3144b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64ba511263432c" /><Relationship Type="http://schemas.openxmlformats.org/officeDocument/2006/relationships/notesSlide" Target="/ppt/notesSlides/notesSlide4.xml" Id="Rf06f4acdf6a54d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de9da4f4a54b88" /><Relationship Type="http://schemas.openxmlformats.org/officeDocument/2006/relationships/notesSlide" Target="/ppt/notesSlides/notesSlide5.xml" Id="Rc6940458f3d44a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f2deb53f1e43fd" /><Relationship Type="http://schemas.openxmlformats.org/officeDocument/2006/relationships/notesSlide" Target="/ppt/notesSlides/notesSlide6.xml" Id="Rffcd9c4839f441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e0773901fa4b27" /><Relationship Type="http://schemas.openxmlformats.org/officeDocument/2006/relationships/notesSlide" Target="/ppt/notesSlides/notesSlide7.xml" Id="Rcd84d16ae02b4b2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694ebb7629a4a4d" /><Relationship Type="http://schemas.openxmlformats.org/officeDocument/2006/relationships/notesSlide" Target="/ppt/notesSlides/notesSlide8.xml" Id="R2cebd587e9d74e1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9f42ce56734c24" /><Relationship Type="http://schemas.openxmlformats.org/officeDocument/2006/relationships/notesSlide" Target="/ppt/notesSlides/notesSlide9.xml" Id="R314801def6214f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836dfdb7007494c" /><Relationship Type="http://schemas.openxmlformats.org/officeDocument/2006/relationships/chart" Target="/ppt/slides/charts/chart1.xml" Id="R9943be153d954177" /><Relationship Type="http://schemas.openxmlformats.org/officeDocument/2006/relationships/notesSlide" Target="/ppt/notesSlides/notesSlide10.xml" Id="R0f3300a07d7443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3b1ec19eeb4fc4" /><Relationship Type="http://schemas.openxmlformats.org/officeDocument/2006/relationships/notesSlide" Target="/ppt/notesSlides/notesSlide11.xml" Id="R40138b026bd544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d615995e1e34d65" /><Relationship Type="http://schemas.openxmlformats.org/officeDocument/2006/relationships/notesSlide" Target="/ppt/notesSlides/notesSlide12.xml" Id="Rfd957dd53a8743f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Control</c:v>
          </c:tx>
          <c:spPr>
            <a:solidFill xmlns:a="http://schemas.openxmlformats.org/drawingml/2006/main">
              <a:srgbClr val="8095A1"/>
            </a:solidFill>
          </c:spPr>
          <c:invertIfNegative val="0"/>
          <c:cat>
            <c:strRef>
              <c:f>'Chart Data'!$A$2:$A$4</c:f>
              <c:strCache>
                <c:ptCount val="3"/>
                <c:pt idx="0">
                  <c:v>Open</c:v>
                </c:pt>
                <c:pt idx="1">
                  <c:v>Midday</c:v>
                </c:pt>
                <c:pt idx="2">
                  <c:v>Close</c:v>
                </c:pt>
              </c:strCache>
            </c:strRef>
          </c:cat>
          <c:val>
            <c:numRef>
              <c:f>'Chart Data'!$B$2:$B$4</c:f>
              <c:numCache>
                <c:formatCode>General</c:formatCode>
                <c:ptCount val="3"/>
                <c:pt idx="0">
                  <c:v>2.352506</c:v>
                </c:pt>
                <c:pt idx="1">
                  <c:v>0.79208</c:v>
                </c:pt>
                <c:pt idx="2">
                  <c:v>0.551428</c:v>
                </c:pt>
              </c:numCache>
            </c:numRef>
          </c:val>
        </c:ser>
        <c:ser>
          <c:idx val="1"/>
          <c:order val="1"/>
          <c:tx>
            <c:v>Earnings-adjacent</c:v>
          </c:tx>
          <c:spPr>
            <a:solidFill xmlns:a="http://schemas.openxmlformats.org/drawingml/2006/main">
              <a:srgbClr val="007F86"/>
            </a:solidFill>
          </c:spPr>
          <c:invertIfNegative val="0"/>
          <c:cat>
            <c:strRef>
              <c:f>'Chart Data'!$C$2:$C$4</c:f>
              <c:strCache>
                <c:ptCount val="3"/>
                <c:pt idx="0">
                  <c:v>Open</c:v>
                </c:pt>
                <c:pt idx="1">
                  <c:v>Midday</c:v>
                </c:pt>
                <c:pt idx="2">
                  <c:v>Close</c:v>
                </c:pt>
              </c:strCache>
            </c:strRef>
          </c:cat>
          <c:val>
            <c:numRef>
              <c:f>'Chart Data'!$D$2:$D$4</c:f>
              <c:numCache>
                <c:formatCode>General</c:formatCode>
                <c:ptCount val="3"/>
                <c:pt idx="0">
                  <c:v>4.113517</c:v>
                </c:pt>
                <c:pt idx="1">
                  <c:v>0.42863</c:v>
                </c:pt>
                <c:pt idx="2">
                  <c:v>0.584088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D9E1E5"/>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1"/>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742ED83-6B54-4A94-9A3A-3498AFDD434B}"/>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7F12A951-4ECD-4921-BDA9-711E1D128BA5}"/>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Can OHLC prices recover trading costs?</a:t>
            </a:r>
          </a:p>
        </p:txBody>
      </p:sp>
      <p:sp>
        <p:nvSpPr>
          <p:cNvPr id="3" name="">
            <a:extLst xmlns:a="http://schemas.openxmlformats.org/drawingml/2006/main">
              <a:ext uri="{FF2B5EF4-FFF2-40B4-BE49-F238E27FC236}">
                <a16:creationId xmlns:a16="http://schemas.microsoft.com/office/drawing/2014/main" id="{3D806A27-C7D4-417A-96DB-7A1FD1C46E92}"/>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EDGE replication and an earnings-adjacent market-state pilot</a:t>
            </a:r>
          </a:p>
        </p:txBody>
      </p:sp>
      <p:sp>
        <p:nvSpPr>
          <p:cNvPr id="4" name="">
            <a:extLst xmlns:a="http://schemas.openxmlformats.org/drawingml/2006/main">
              <a:ext uri="{FF2B5EF4-FFF2-40B4-BE49-F238E27FC236}">
                <a16:creationId xmlns:a16="http://schemas.microsoft.com/office/drawing/2014/main" id="{3797F8E7-4E08-43DB-BAEA-374C1D8A278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4EE0598C-10D0-4C8D-909C-EECA7FD89E13}"/>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AFF2DE2B-4FA1-48C1-9CFF-80550BB6BCBA}"/>
              </a:ext>
            </a:extLst>
          </p:cNvPr>
          <p:cNvSpPr>
            <a:spLocks xmlns:a="http://schemas.openxmlformats.org/drawingml/2006/main" noGrp="1"/>
          </p:cNvSpPr>
          <p:nvPr/>
        </p:nvSpPr>
        <p:spPr>
          <a:xfrm xmlns:a="http://schemas.openxmlformats.org/drawingml/2006/main">
            <a:off x="609600" y="27622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0F29600-17A7-493B-8648-2A49EFF53C14}"/>
              </a:ext>
            </a:extLst>
          </p:cNvPr>
          <p:cNvSpPr>
            <a:spLocks xmlns:a="http://schemas.openxmlformats.org/drawingml/2006/main" noGrp="1"/>
          </p:cNvSpPr>
          <p:nvPr/>
        </p:nvSpPr>
        <p:spPr>
          <a:xfrm xmlns:a="http://schemas.openxmlformats.org/drawingml/2006/main">
            <a:off x="1381125"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Simulation verified</a:t>
            </a:r>
          </a:p>
        </p:txBody>
      </p:sp>
      <p:sp>
        <p:nvSpPr>
          <p:cNvPr id="8" name="">
            <a:extLst xmlns:a="http://schemas.openxmlformats.org/drawingml/2006/main">
              <a:ext uri="{FF2B5EF4-FFF2-40B4-BE49-F238E27FC236}">
                <a16:creationId xmlns:a16="http://schemas.microsoft.com/office/drawing/2014/main" id="{2FDF2171-B3C5-4F2F-A191-24F6A0DA8B43}"/>
              </a:ext>
            </a:extLst>
          </p:cNvPr>
          <p:cNvSpPr>
            <a:spLocks xmlns:a="http://schemas.openxmlformats.org/drawingml/2006/main" noGrp="1"/>
          </p:cNvSpPr>
          <p:nvPr/>
        </p:nvSpPr>
        <p:spPr>
          <a:xfrm xmlns:a="http://schemas.openxmlformats.org/drawingml/2006/main">
            <a:off x="1381125" y="31623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160/160 published cells; 240/240 author-package cells</a:t>
            </a:r>
          </a:p>
        </p:txBody>
      </p:sp>
      <p:sp>
        <p:nvSpPr>
          <p:cNvPr id="9" name="">
            <a:extLst xmlns:a="http://schemas.openxmlformats.org/drawingml/2006/main">
              <a:ext uri="{FF2B5EF4-FFF2-40B4-BE49-F238E27FC236}">
                <a16:creationId xmlns:a16="http://schemas.microsoft.com/office/drawing/2014/main" id="{1C5E71F3-16C7-42AF-A6E3-560C8A5A39A3}"/>
              </a:ext>
            </a:extLst>
          </p:cNvPr>
          <p:cNvSpPr>
            <a:spLocks xmlns:a="http://schemas.openxmlformats.org/drawingml/2006/main" noGrp="1"/>
          </p:cNvSpPr>
          <p:nvPr/>
        </p:nvSpPr>
        <p:spPr>
          <a:xfrm xmlns:a="http://schemas.openxmlformats.org/drawingml/2006/main">
            <a:off x="609600" y="37719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D8B6B46D-81FA-4182-A5DC-F66C307632D1}"/>
              </a:ext>
            </a:extLst>
          </p:cNvPr>
          <p:cNvSpPr>
            <a:spLocks xmlns:a="http://schemas.openxmlformats.org/drawingml/2006/main" noGrp="1"/>
          </p:cNvSpPr>
          <p:nvPr/>
        </p:nvSpPr>
        <p:spPr>
          <a:xfrm xmlns:a="http://schemas.openxmlformats.org/drawingml/2006/main">
            <a:off x="1381125" y="37719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Observed agreement is weak</a:t>
            </a:r>
          </a:p>
        </p:txBody>
      </p:sp>
      <p:sp>
        <p:nvSpPr>
          <p:cNvPr id="11" name="">
            <a:extLst xmlns:a="http://schemas.openxmlformats.org/drawingml/2006/main">
              <a:ext uri="{FF2B5EF4-FFF2-40B4-BE49-F238E27FC236}">
                <a16:creationId xmlns:a16="http://schemas.microsoft.com/office/drawing/2014/main" id="{CB50EBDE-6B74-4452-939B-DECF2F43B271}"/>
              </a:ext>
            </a:extLst>
          </p:cNvPr>
          <p:cNvSpPr>
            <a:spLocks xmlns:a="http://schemas.openxmlformats.org/drawingml/2006/main" noGrp="1"/>
          </p:cNvSpPr>
          <p:nvPr/>
        </p:nvSpPr>
        <p:spPr>
          <a:xfrm xmlns:a="http://schemas.openxmlformats.org/drawingml/2006/main">
            <a:off x="1381125" y="417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30 stock-months; Pearson correlation 0.0304</a:t>
            </a:r>
          </a:p>
        </p:txBody>
      </p:sp>
      <p:sp>
        <p:nvSpPr>
          <p:cNvPr id="12" name="">
            <a:extLst xmlns:a="http://schemas.openxmlformats.org/drawingml/2006/main">
              <a:ext uri="{FF2B5EF4-FFF2-40B4-BE49-F238E27FC236}">
                <a16:creationId xmlns:a16="http://schemas.microsoft.com/office/drawing/2014/main" id="{FF9FC6AD-C70A-43D8-83E9-CB2168134CF0}"/>
              </a:ext>
            </a:extLst>
          </p:cNvPr>
          <p:cNvSpPr>
            <a:spLocks xmlns:a="http://schemas.openxmlformats.org/drawingml/2006/main" noGrp="1"/>
          </p:cNvSpPr>
          <p:nvPr/>
        </p:nvSpPr>
        <p:spPr>
          <a:xfrm xmlns:a="http://schemas.openxmlformats.org/drawingml/2006/main">
            <a:off x="609600" y="47815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ECC3BE38-F86F-4207-AEEC-AD23B4A7461C}"/>
              </a:ext>
            </a:extLst>
          </p:cNvPr>
          <p:cNvSpPr>
            <a:spLocks xmlns:a="http://schemas.openxmlformats.org/drawingml/2006/main" noGrp="1"/>
          </p:cNvSpPr>
          <p:nvPr/>
        </p:nvSpPr>
        <p:spPr>
          <a:xfrm xmlns:a="http://schemas.openxmlformats.org/drawingml/2006/main">
            <a:off x="1381125"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Opening intervals are harder</a:t>
            </a:r>
          </a:p>
        </p:txBody>
      </p:sp>
      <p:sp>
        <p:nvSpPr>
          <p:cNvPr id="14" name="">
            <a:extLst xmlns:a="http://schemas.openxmlformats.org/drawingml/2006/main">
              <a:ext uri="{FF2B5EF4-FFF2-40B4-BE49-F238E27FC236}">
                <a16:creationId xmlns:a16="http://schemas.microsoft.com/office/drawing/2014/main" id="{CEBE5AC3-D9D6-4C4A-9E42-A41BCE3DCB76}"/>
              </a:ext>
            </a:extLst>
          </p:cNvPr>
          <p:cNvSpPr>
            <a:spLocks xmlns:a="http://schemas.openxmlformats.org/drawingml/2006/main" noGrp="1"/>
          </p:cNvSpPr>
          <p:nvPr/>
        </p:nvSpPr>
        <p:spPr>
          <a:xfrm xmlns:a="http://schemas.openxmlformats.org/drawingml/2006/main">
            <a:off x="1381125" y="5181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44 accepted intervals; larger opening-window median errors</a:t>
            </a:r>
          </a:p>
        </p:txBody>
      </p:sp>
    </p:spTree>
    <p:extLst>
      <p:ext uri="{BB962C8B-B14F-4D97-AF65-F5344CB8AC3E}">
        <p14:creationId xmlns:p14="http://schemas.microsoft.com/office/powerpoint/2010/main" val="1527233113"/>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15D7CA-6BD6-49AC-91CF-D56AF3437614}"/>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424FF216-03EC-4474-9C5B-20C6CC51B671}"/>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Three questions, three evidence sets</a:t>
            </a:r>
          </a:p>
        </p:txBody>
      </p:sp>
      <p:sp>
        <p:nvSpPr>
          <p:cNvPr id="3" name="">
            <a:extLst xmlns:a="http://schemas.openxmlformats.org/drawingml/2006/main">
              <a:ext uri="{FF2B5EF4-FFF2-40B4-BE49-F238E27FC236}">
                <a16:creationId xmlns:a16="http://schemas.microsoft.com/office/drawing/2014/main" id="{99800040-261E-4F12-8461-298D42726CC7}"/>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A bounded implementation of the project specification</a:t>
            </a:r>
          </a:p>
        </p:txBody>
      </p:sp>
      <p:sp>
        <p:nvSpPr>
          <p:cNvPr id="4" name="">
            <a:extLst xmlns:a="http://schemas.openxmlformats.org/drawingml/2006/main">
              <a:ext uri="{FF2B5EF4-FFF2-40B4-BE49-F238E27FC236}">
                <a16:creationId xmlns:a16="http://schemas.microsoft.com/office/drawing/2014/main" id="{431C96AE-534C-44F7-9AD6-39ED02BC5A7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FA36BFDC-2C1F-4BDE-B427-B0B27C9480FB}"/>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3A00016-819B-41EF-902B-D21D2F3F5EAE}"/>
              </a:ext>
            </a:extLst>
          </p:cNvPr>
          <p:cNvSpPr>
            <a:spLocks xmlns:a="http://schemas.openxmlformats.org/drawingml/2006/main" noGrp="1"/>
          </p:cNvSpPr>
          <p:nvPr/>
        </p:nvSpPr>
        <p:spPr>
          <a:xfrm xmlns:a="http://schemas.openxmlformats.org/drawingml/2006/main">
            <a:off x="609600" y="27622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F30AEF9-EB1A-41E4-B40C-70BCFED2437A}"/>
              </a:ext>
            </a:extLst>
          </p:cNvPr>
          <p:cNvSpPr>
            <a:spLocks xmlns:a="http://schemas.openxmlformats.org/drawingml/2006/main" noGrp="1"/>
          </p:cNvSpPr>
          <p:nvPr/>
        </p:nvSpPr>
        <p:spPr>
          <a:xfrm xmlns:a="http://schemas.openxmlformats.org/drawingml/2006/main">
            <a:off x="1381125"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A · Controlled replication</a:t>
            </a:r>
          </a:p>
        </p:txBody>
      </p:sp>
      <p:sp>
        <p:nvSpPr>
          <p:cNvPr id="8" name="">
            <a:extLst xmlns:a="http://schemas.openxmlformats.org/drawingml/2006/main">
              <a:ext uri="{FF2B5EF4-FFF2-40B4-BE49-F238E27FC236}">
                <a16:creationId xmlns:a16="http://schemas.microsoft.com/office/drawing/2014/main" id="{A6A659C9-B435-4628-B60E-E6A9761DD3E9}"/>
              </a:ext>
            </a:extLst>
          </p:cNvPr>
          <p:cNvSpPr>
            <a:spLocks xmlns:a="http://schemas.openxmlformats.org/drawingml/2006/main" noGrp="1"/>
          </p:cNvSpPr>
          <p:nvPr/>
        </p:nvSpPr>
        <p:spPr>
          <a:xfrm xmlns:a="http://schemas.openxmlformats.org/drawingml/2006/main">
            <a:off x="1381125" y="31623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100,000 simulated 21-day windows; eight estimators</a:t>
            </a:r>
          </a:p>
        </p:txBody>
      </p:sp>
      <p:sp>
        <p:nvSpPr>
          <p:cNvPr id="9" name="">
            <a:extLst xmlns:a="http://schemas.openxmlformats.org/drawingml/2006/main">
              <a:ext uri="{FF2B5EF4-FFF2-40B4-BE49-F238E27FC236}">
                <a16:creationId xmlns:a16="http://schemas.microsoft.com/office/drawing/2014/main" id="{522BAC69-630B-4FC7-85DA-C4DA0EE7F033}"/>
              </a:ext>
            </a:extLst>
          </p:cNvPr>
          <p:cNvSpPr>
            <a:spLocks xmlns:a="http://schemas.openxmlformats.org/drawingml/2006/main" noGrp="1"/>
          </p:cNvSpPr>
          <p:nvPr/>
        </p:nvSpPr>
        <p:spPr>
          <a:xfrm xmlns:a="http://schemas.openxmlformats.org/drawingml/2006/main">
            <a:off x="609600" y="37719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8373A56-577E-4096-B370-C50B0FC43948}"/>
              </a:ext>
            </a:extLst>
          </p:cNvPr>
          <p:cNvSpPr>
            <a:spLocks xmlns:a="http://schemas.openxmlformats.org/drawingml/2006/main" noGrp="1"/>
          </p:cNvSpPr>
          <p:nvPr/>
        </p:nvSpPr>
        <p:spPr>
          <a:xfrm xmlns:a="http://schemas.openxmlformats.org/drawingml/2006/main">
            <a:off x="1381125" y="37719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B · Daily empirical comparison</a:t>
            </a:r>
          </a:p>
        </p:txBody>
      </p:sp>
      <p:sp>
        <p:nvSpPr>
          <p:cNvPr id="11" name="">
            <a:extLst xmlns:a="http://schemas.openxmlformats.org/drawingml/2006/main">
              <a:ext uri="{FF2B5EF4-FFF2-40B4-BE49-F238E27FC236}">
                <a16:creationId xmlns:a16="http://schemas.microsoft.com/office/drawing/2014/main" id="{3FA73A3D-4615-4415-83E0-98861BBA697E}"/>
              </a:ext>
            </a:extLst>
          </p:cNvPr>
          <p:cNvSpPr>
            <a:spLocks xmlns:a="http://schemas.openxmlformats.org/drawingml/2006/main" noGrp="1"/>
          </p:cNvSpPr>
          <p:nvPr/>
        </p:nvSpPr>
        <p:spPr>
          <a:xfrm xmlns:a="http://schemas.openxmlformats.org/drawingml/2006/main">
            <a:off x="1381125" y="417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5 stocks × 6 months; CRSP prices and WRDS IID</a:t>
            </a:r>
          </a:p>
        </p:txBody>
      </p:sp>
      <p:sp>
        <p:nvSpPr>
          <p:cNvPr id="12" name="">
            <a:extLst xmlns:a="http://schemas.openxmlformats.org/drawingml/2006/main">
              <a:ext uri="{FF2B5EF4-FFF2-40B4-BE49-F238E27FC236}">
                <a16:creationId xmlns:a16="http://schemas.microsoft.com/office/drawing/2014/main" id="{50300CB0-7725-44ED-98B5-EF3ECB011E97}"/>
              </a:ext>
            </a:extLst>
          </p:cNvPr>
          <p:cNvSpPr>
            <a:spLocks xmlns:a="http://schemas.openxmlformats.org/drawingml/2006/main" noGrp="1"/>
          </p:cNvSpPr>
          <p:nvPr/>
        </p:nvSpPr>
        <p:spPr>
          <a:xfrm xmlns:a="http://schemas.openxmlformats.org/drawingml/2006/main">
            <a:off x="609600" y="47815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BFAE410-99CE-4919-BCE6-34BCE08D5EDF}"/>
              </a:ext>
            </a:extLst>
          </p:cNvPr>
          <p:cNvSpPr>
            <a:spLocks xmlns:a="http://schemas.openxmlformats.org/drawingml/2006/main" noGrp="1"/>
          </p:cNvSpPr>
          <p:nvPr/>
        </p:nvSpPr>
        <p:spPr>
          <a:xfrm xmlns:a="http://schemas.openxmlformats.org/drawingml/2006/main">
            <a:off x="1381125"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C · Raw-data extension</a:t>
            </a:r>
          </a:p>
        </p:txBody>
      </p:sp>
      <p:sp>
        <p:nvSpPr>
          <p:cNvPr id="14" name="">
            <a:extLst xmlns:a="http://schemas.openxmlformats.org/drawingml/2006/main">
              <a:ext uri="{FF2B5EF4-FFF2-40B4-BE49-F238E27FC236}">
                <a16:creationId xmlns:a16="http://schemas.microsoft.com/office/drawing/2014/main" id="{94BF3ADE-4F58-4DED-A3D3-BEAB014E0A24}"/>
              </a:ext>
            </a:extLst>
          </p:cNvPr>
          <p:cNvSpPr>
            <a:spLocks xmlns:a="http://schemas.openxmlformats.org/drawingml/2006/main" noGrp="1"/>
          </p:cNvSpPr>
          <p:nvPr/>
        </p:nvSpPr>
        <p:spPr>
          <a:xfrm xmlns:a="http://schemas.openxmlformats.org/drawingml/2006/main">
            <a:off x="1381125" y="5181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15 stock-days × 3 windows; trades and Complete NBBO</a:t>
            </a:r>
          </a:p>
        </p:txBody>
      </p:sp>
    </p:spTree>
    <p:extLst>
      <p:ext uri="{BB962C8B-B14F-4D97-AF65-F5344CB8AC3E}">
        <p14:creationId xmlns:p14="http://schemas.microsoft.com/office/powerpoint/2010/main" val="1740920635"/>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1FCD065-369D-4CED-B659-76AC46CE599F}"/>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121CB12A-CEBC-47DE-8DAF-CB6AAA70E108}"/>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EDGE turns price variation into a spread estimate</a:t>
            </a:r>
          </a:p>
        </p:txBody>
      </p:sp>
      <p:sp>
        <p:nvSpPr>
          <p:cNvPr id="3" name="">
            <a:extLst xmlns:a="http://schemas.openxmlformats.org/drawingml/2006/main">
              <a:ext uri="{FF2B5EF4-FFF2-40B4-BE49-F238E27FC236}">
                <a16:creationId xmlns:a16="http://schemas.microsoft.com/office/drawing/2014/main" id="{8AD0DD01-3DE7-4882-9FCC-BEB120F9C9F1}"/>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Separate spread-related movements from fundamental price movements</a:t>
            </a:r>
          </a:p>
        </p:txBody>
      </p:sp>
      <p:sp>
        <p:nvSpPr>
          <p:cNvPr id="4" name="">
            <a:extLst xmlns:a="http://schemas.openxmlformats.org/drawingml/2006/main">
              <a:ext uri="{FF2B5EF4-FFF2-40B4-BE49-F238E27FC236}">
                <a16:creationId xmlns:a16="http://schemas.microsoft.com/office/drawing/2014/main" id="{4F40A292-E2C9-432C-B106-3F5806EBE417}"/>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BDDECE14-5CDA-4E5B-BCD6-442E02F59E68}"/>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8632449-61A1-4740-8BB2-FBC8936379DE}"/>
              </a:ext>
            </a:extLst>
          </p:cNvPr>
          <p:cNvSpPr>
            <a:spLocks xmlns:a="http://schemas.openxmlformats.org/drawingml/2006/main" noGrp="1"/>
          </p:cNvSpPr>
          <p:nvPr/>
        </p:nvSpPr>
        <p:spPr>
          <a:xfrm xmlns:a="http://schemas.openxmlformats.org/drawingml/2006/main">
            <a:off x="609600" y="27622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C4C592B-F412-4693-B4AC-E1E04BE8F7EA}"/>
              </a:ext>
            </a:extLst>
          </p:cNvPr>
          <p:cNvSpPr>
            <a:spLocks xmlns:a="http://schemas.openxmlformats.org/drawingml/2006/main" noGrp="1"/>
          </p:cNvSpPr>
          <p:nvPr/>
        </p:nvSpPr>
        <p:spPr>
          <a:xfrm xmlns:a="http://schemas.openxmlformats.org/drawingml/2006/main">
            <a:off x="1381125"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Input</a:t>
            </a:r>
          </a:p>
        </p:txBody>
      </p:sp>
      <p:sp>
        <p:nvSpPr>
          <p:cNvPr id="8" name="">
            <a:extLst xmlns:a="http://schemas.openxmlformats.org/drawingml/2006/main">
              <a:ext uri="{FF2B5EF4-FFF2-40B4-BE49-F238E27FC236}">
                <a16:creationId xmlns:a16="http://schemas.microsoft.com/office/drawing/2014/main" id="{584EDC5B-1F81-49D6-A50C-06AAC26B54C3}"/>
              </a:ext>
            </a:extLst>
          </p:cNvPr>
          <p:cNvSpPr>
            <a:spLocks xmlns:a="http://schemas.openxmlformats.org/drawingml/2006/main" noGrp="1"/>
          </p:cNvSpPr>
          <p:nvPr/>
        </p:nvSpPr>
        <p:spPr>
          <a:xfrm xmlns:a="http://schemas.openxmlformats.org/drawingml/2006/main">
            <a:off x="1381125" y="31623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Daily or minute open, high, low and close prices</a:t>
            </a:r>
          </a:p>
        </p:txBody>
      </p:sp>
      <p:sp>
        <p:nvSpPr>
          <p:cNvPr id="9" name="">
            <a:extLst xmlns:a="http://schemas.openxmlformats.org/drawingml/2006/main">
              <a:ext uri="{FF2B5EF4-FFF2-40B4-BE49-F238E27FC236}">
                <a16:creationId xmlns:a16="http://schemas.microsoft.com/office/drawing/2014/main" id="{4B06E2F3-3F63-4582-8663-C1B407B0BA0E}"/>
              </a:ext>
            </a:extLst>
          </p:cNvPr>
          <p:cNvSpPr>
            <a:spLocks xmlns:a="http://schemas.openxmlformats.org/drawingml/2006/main" noGrp="1"/>
          </p:cNvSpPr>
          <p:nvPr/>
        </p:nvSpPr>
        <p:spPr>
          <a:xfrm xmlns:a="http://schemas.openxmlformats.org/drawingml/2006/main">
            <a:off x="609600" y="37719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63D2E9A-23A1-487B-8EAE-01DFEFD9E538}"/>
              </a:ext>
            </a:extLst>
          </p:cNvPr>
          <p:cNvSpPr>
            <a:spLocks xmlns:a="http://schemas.openxmlformats.org/drawingml/2006/main" noGrp="1"/>
          </p:cNvSpPr>
          <p:nvPr/>
        </p:nvSpPr>
        <p:spPr>
          <a:xfrm xmlns:a="http://schemas.openxmlformats.org/drawingml/2006/main">
            <a:off x="1381125" y="37719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Estimator</a:t>
            </a:r>
          </a:p>
        </p:txBody>
      </p:sp>
      <p:sp>
        <p:nvSpPr>
          <p:cNvPr id="11" name="">
            <a:extLst xmlns:a="http://schemas.openxmlformats.org/drawingml/2006/main">
              <a:ext uri="{FF2B5EF4-FFF2-40B4-BE49-F238E27FC236}">
                <a16:creationId xmlns:a16="http://schemas.microsoft.com/office/drawing/2014/main" id="{6752C65A-619D-48FC-9490-456AAF2F89CD}"/>
              </a:ext>
            </a:extLst>
          </p:cNvPr>
          <p:cNvSpPr>
            <a:spLocks xmlns:a="http://schemas.openxmlformats.org/drawingml/2006/main" noGrp="1"/>
          </p:cNvSpPr>
          <p:nvPr/>
        </p:nvSpPr>
        <p:spPr>
          <a:xfrm xmlns:a="http://schemas.openxmlformats.org/drawingml/2006/main">
            <a:off x="1381125" y="417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Pinned author EDGE code; signed estimate truncated at zero</a:t>
            </a:r>
          </a:p>
        </p:txBody>
      </p:sp>
      <p:sp>
        <p:nvSpPr>
          <p:cNvPr id="12" name="">
            <a:extLst xmlns:a="http://schemas.openxmlformats.org/drawingml/2006/main">
              <a:ext uri="{FF2B5EF4-FFF2-40B4-BE49-F238E27FC236}">
                <a16:creationId xmlns:a16="http://schemas.microsoft.com/office/drawing/2014/main" id="{737F39BF-36AD-4EF5-A7F4-6EA05277B172}"/>
              </a:ext>
            </a:extLst>
          </p:cNvPr>
          <p:cNvSpPr>
            <a:spLocks xmlns:a="http://schemas.openxmlformats.org/drawingml/2006/main" noGrp="1"/>
          </p:cNvSpPr>
          <p:nvPr/>
        </p:nvSpPr>
        <p:spPr>
          <a:xfrm xmlns:a="http://schemas.openxmlformats.org/drawingml/2006/main">
            <a:off x="609600" y="47815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9F35320-68EA-4392-88E4-CB6AC95167A6}"/>
              </a:ext>
            </a:extLst>
          </p:cNvPr>
          <p:cNvSpPr>
            <a:spLocks xmlns:a="http://schemas.openxmlformats.org/drawingml/2006/main" noGrp="1"/>
          </p:cNvSpPr>
          <p:nvPr/>
        </p:nvSpPr>
        <p:spPr>
          <a:xfrm xmlns:a="http://schemas.openxmlformats.org/drawingml/2006/main">
            <a:off x="1381125"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Comparison</a:t>
            </a:r>
          </a:p>
        </p:txBody>
      </p:sp>
      <p:sp>
        <p:nvSpPr>
          <p:cNvPr id="14" name="">
            <a:extLst xmlns:a="http://schemas.openxmlformats.org/drawingml/2006/main">
              <a:ext uri="{FF2B5EF4-FFF2-40B4-BE49-F238E27FC236}">
                <a16:creationId xmlns:a16="http://schemas.microsoft.com/office/drawing/2014/main" id="{34371CDC-255F-4F2D-B6CF-1B8D0DD9E65F}"/>
              </a:ext>
            </a:extLst>
          </p:cNvPr>
          <p:cNvSpPr>
            <a:spLocks xmlns:a="http://schemas.openxmlformats.org/drawingml/2006/main" noGrp="1"/>
          </p:cNvSpPr>
          <p:nvPr/>
        </p:nvSpPr>
        <p:spPr>
          <a:xfrm xmlns:a="http://schemas.openxmlformats.org/drawingml/2006/main">
            <a:off x="1381125" y="5181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Same-horizon high-frequency RMS spread; errors shown in bps</a:t>
            </a:r>
          </a:p>
        </p:txBody>
      </p:sp>
    </p:spTree>
    <p:extLst>
      <p:ext uri="{BB962C8B-B14F-4D97-AF65-F5344CB8AC3E}">
        <p14:creationId xmlns:p14="http://schemas.microsoft.com/office/powerpoint/2010/main" val="1673392318"/>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26281A-B972-48E7-AD23-FE9167B7CDEB}"/>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3D915629-3C9F-4650-985E-3FF0F048BED3}"/>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The original simulation is reproduced</a:t>
            </a:r>
          </a:p>
        </p:txBody>
      </p:sp>
      <p:sp>
        <p:nvSpPr>
          <p:cNvPr id="3" name="">
            <a:extLst xmlns:a="http://schemas.openxmlformats.org/drawingml/2006/main">
              <a:ext uri="{FF2B5EF4-FFF2-40B4-BE49-F238E27FC236}">
                <a16:creationId xmlns:a16="http://schemas.microsoft.com/office/drawing/2014/main" id="{EC91CE16-BF46-4F3C-BED0-4D2541FB4053}"/>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Example: true spread = 1%; each scenario has 10,000 windows</a:t>
            </a:r>
          </a:p>
        </p:txBody>
      </p:sp>
      <p:sp>
        <p:nvSpPr>
          <p:cNvPr id="4" name="">
            <a:extLst xmlns:a="http://schemas.openxmlformats.org/drawingml/2006/main">
              <a:ext uri="{FF2B5EF4-FFF2-40B4-BE49-F238E27FC236}">
                <a16:creationId xmlns:a16="http://schemas.microsoft.com/office/drawing/2014/main" id="{6D03EFBC-815D-438B-8D23-42F1CD3D8FC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32E9E23F-AE6F-4AE9-A662-918F6679B39C}"/>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04</a:t>
            </a:r>
          </a:p>
        </p:txBody>
      </p:sp>
      <p:graphicFrame>
        <p:nvGraphicFramePr>
          <p:cNvPr id="6" name="">
            <a:extLst xmlns:a="http://schemas.openxmlformats.org/drawingml/2006/main">
              <a:ext uri="{FF2B5EF4-FFF2-40B4-BE49-F238E27FC236}">
                <a16:creationId xmlns:a16="http://schemas.microsoft.com/office/drawing/2014/main" id="{0088BAB0-A752-4ADC-8BBD-A542069CBED9}"/>
              </a:ext>
            </a:extLst>
          </p:cNvPr>
          <p:cNvGraphicFramePr/>
          <p:nvPr/>
        </p:nvGraphicFramePr>
        <p:xfrm>
          <a:off xmlns:a="http://schemas.openxmlformats.org/drawingml/2006/main" x="609600" y="2762250"/>
          <a:ext xmlns:a="http://schemas.openxmlformats.org/drawingml/2006/main" cx="10972800" cy="2190750"/>
        </p:xfrm>
        <a:graphic xmlns:a="http://schemas.openxmlformats.org/drawingml/2006/main">
          <a:graphicData uri="http://schemas.openxmlformats.org/drawingml/2006/table">
            <a:tbl>
              <a:tblPr/>
              <a:tblGrid>
                <a:gridCol w="2209800"/>
                <a:gridCol w="2190750"/>
                <a:gridCol w="2190750"/>
                <a:gridCol w="2190750"/>
                <a:gridCol w="2190750"/>
              </a:tblGrid>
              <a:tr h="730250">
                <a:tc>
                  <a:txBody>
                    <a:bodyPr/>
                    <a:lstStyle/>
                    <a:p>
                      <a:r>
                        <a:rPr sz="1575" b="1">
                          <a:solidFill>
                            <a:srgbClr val="FFFFFF"/>
                          </a:solidFill>
                          <a:latin typeface="Arial"/>
                          <a:ea typeface="Arial"/>
                          <a:cs typeface="Arial"/>
                        </a:rPr>
                        <a:t>Trading</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c>
                  <a:txBody>
                    <a:bodyPr/>
                    <a:lstStyle/>
                    <a:p>
                      <a:r>
                        <a:rPr sz="1575" b="1">
                          <a:solidFill>
                            <a:srgbClr val="FFFFFF"/>
                          </a:solidFill>
                          <a:latin typeface="Arial"/>
                          <a:ea typeface="Arial"/>
                          <a:cs typeface="Arial"/>
                        </a:rPr>
                        <a:t>Published mean</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c>
                  <a:txBody>
                    <a:bodyPr/>
                    <a:lstStyle/>
                    <a:p>
                      <a:r>
                        <a:rPr sz="1575" b="1">
                          <a:solidFill>
                            <a:srgbClr val="FFFFFF"/>
                          </a:solidFill>
                          <a:latin typeface="Arial"/>
                          <a:ea typeface="Arial"/>
                          <a:cs typeface="Arial"/>
                        </a:rPr>
                        <a:t>Our mean</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c>
                  <a:txBody>
                    <a:bodyPr/>
                    <a:lstStyle/>
                    <a:p>
                      <a:r>
                        <a:rPr sz="1575" b="1">
                          <a:solidFill>
                            <a:srgbClr val="FFFFFF"/>
                          </a:solidFill>
                          <a:latin typeface="Arial"/>
                          <a:ea typeface="Arial"/>
                          <a:cs typeface="Arial"/>
                        </a:rPr>
                        <a:t>Published SD</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c>
                  <a:txBody>
                    <a:bodyPr/>
                    <a:lstStyle/>
                    <a:p>
                      <a:r>
                        <a:rPr sz="1575" b="1">
                          <a:solidFill>
                            <a:srgbClr val="FFFFFF"/>
                          </a:solidFill>
                          <a:latin typeface="Arial"/>
                          <a:ea typeface="Arial"/>
                          <a:cs typeface="Arial"/>
                        </a:rPr>
                        <a:t>Our SD</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r>
              <a:tr h="730250">
                <a:tc>
                  <a:txBody>
                    <a:bodyPr/>
                    <a:lstStyle/>
                    <a:p>
                      <a:r>
                        <a:rPr sz="1575" b="0">
                          <a:solidFill>
                            <a:srgbClr val="142C3B"/>
                          </a:solidFill>
                          <a:latin typeface="Arial"/>
                          <a:ea typeface="Arial"/>
                          <a:cs typeface="Arial"/>
                        </a:rPr>
                        <a:t>Frequent</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0.90%</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0.896069%</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0.42%</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0.423427%</a:t>
                      </a:r>
                    </a:p>
                  </a:txBody>
                  <a:tcPr marL="91440" marR="91440" marT="45720" marB="45720">
                    <a:lnR w="19050">
                      <a:solidFill>
                        <a:srgbClr val="FFFFFF"/>
                      </a:solidFill>
                      <a:prstDash val="solid"/>
                    </a:lnR>
                    <a:lnB w="19050">
                      <a:solidFill>
                        <a:srgbClr val="FFFFFF"/>
                      </a:solidFill>
                      <a:prstDash val="solid"/>
                    </a:lnB>
                    <a:solidFill>
                      <a:srgbClr val="FFFFFF"/>
                    </a:solidFill>
                  </a:tcPr>
                </a:tc>
              </a:tr>
              <a:tr h="730250">
                <a:tc>
                  <a:txBody>
                    <a:bodyPr/>
                    <a:lstStyle/>
                    <a:p>
                      <a:r>
                        <a:rPr sz="1575" b="0">
                          <a:solidFill>
                            <a:srgbClr val="142C3B"/>
                          </a:solidFill>
                          <a:latin typeface="Arial"/>
                          <a:ea typeface="Arial"/>
                          <a:cs typeface="Arial"/>
                        </a:rPr>
                        <a:t>Infrequent</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0.95%</a:t>
                      </a:r>
                    </a:p>
                  </a:txBody>
                  <a:tcPr marL="91440" marR="91440" marT="45720" marB="45720">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0.952351%</a:t>
                      </a:r>
                    </a:p>
                  </a:txBody>
                  <a:tcPr marL="91440" marR="91440" marT="45720" marB="45720">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0.83%</a:t>
                      </a:r>
                    </a:p>
                  </a:txBody>
                  <a:tcPr marL="91440" marR="91440" marT="45720" marB="45720">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0.826382%</a:t>
                      </a:r>
                    </a:p>
                  </a:txBody>
                  <a:tcPr marL="91440" marR="91440" marT="45720" marB="45720">
                    <a:lnR w="19050">
                      <a:solidFill>
                        <a:srgbClr val="FFFFFF"/>
                      </a:solidFill>
                      <a:prstDash val="solid"/>
                    </a:lnR>
                    <a:lnB w="19050">
                      <a:solidFill>
                        <a:srgbClr val="FFFFFF"/>
                      </a:solidFill>
                      <a:prstDash val="solid"/>
                    </a:lnB>
                    <a:solidFill>
                      <a:srgbClr val="E8EEF0"/>
                    </a:solidFill>
                  </a:tcPr>
                </a:tc>
              </a:tr>
            </a:tbl>
          </a:graphicData>
        </a:graphic>
      </p:graphicFrame>
      <p:sp>
        <p:nvSpPr>
          <p:cNvPr id="7" name="">
            <a:extLst xmlns:a="http://schemas.openxmlformats.org/drawingml/2006/main">
              <a:ext uri="{FF2B5EF4-FFF2-40B4-BE49-F238E27FC236}">
                <a16:creationId xmlns:a16="http://schemas.microsoft.com/office/drawing/2014/main" id="{3B315220-7BEC-4332-BB1F-B4B96F12D345}"/>
              </a:ext>
            </a:extLst>
          </p:cNvPr>
          <p:cNvSpPr>
            <a:spLocks xmlns:a="http://schemas.openxmlformats.org/drawingml/2006/main" noGrp="1"/>
          </p:cNvSpPr>
          <p:nvPr/>
        </p:nvSpPr>
        <p:spPr>
          <a:xfrm xmlns:a="http://schemas.openxmlformats.org/drawingml/2006/main">
            <a:off x="609600" y="53149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86"/>
                </a:solidFill>
                <a:latin typeface="Arial"/>
                <a:ea typeface="Arial"/>
                <a:cs typeface="Arial"/>
              </a:defRPr>
            </a:defPPr>
          </a:lstStyle>
          <a:p xmlns:a="http://schemas.openxmlformats.org/drawingml/2006/main">
            <a:pPr>
              <a:defRPr sz="2100" b="1">
                <a:solidFill>
                  <a:srgbClr val="007F86"/>
                </a:solidFill>
                <a:latin typeface="Arial"/>
                <a:ea typeface="Arial"/>
                <a:cs typeface="Arial"/>
              </a:defRPr>
            </a:pPr>
            <a:r>
              <a:rPr sz="2100" b="1">
                <a:solidFill>
                  <a:srgbClr val="007F86"/>
                </a:solidFill>
                <a:latin typeface="Arial"/>
                <a:ea typeface="Arial"/>
                <a:cs typeface="Arial"/>
              </a:rPr>
              <a:t>All published mean/SD cells match at printed precision.</a:t>
            </a:r>
          </a:p>
        </p:txBody>
      </p:sp>
    </p:spTree>
    <p:extLst>
      <p:ext uri="{BB962C8B-B14F-4D97-AF65-F5344CB8AC3E}">
        <p14:creationId xmlns:p14="http://schemas.microsoft.com/office/powerpoint/2010/main" val="798761047"/>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E5A0E60-50B9-483D-87CE-427BF5614118}"/>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5C9BCF0A-35DC-4EA8-91F9-FD2D79E08F26}"/>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Daily inputs align after explicit cleaning</a:t>
            </a:r>
          </a:p>
        </p:txBody>
      </p:sp>
      <p:sp>
        <p:nvSpPr>
          <p:cNvPr id="3" name="">
            <a:extLst xmlns:a="http://schemas.openxmlformats.org/drawingml/2006/main">
              <a:ext uri="{FF2B5EF4-FFF2-40B4-BE49-F238E27FC236}">
                <a16:creationId xmlns:a16="http://schemas.microsoft.com/office/drawing/2014/main" id="{2E9EE5E7-C0D0-44D9-A28D-4212EAA2D407}"/>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AAPL · MSFT · JPM · XOM · NVDA | January–June 2024</a:t>
            </a:r>
          </a:p>
        </p:txBody>
      </p:sp>
      <p:sp>
        <p:nvSpPr>
          <p:cNvPr id="4" name="">
            <a:extLst xmlns:a="http://schemas.openxmlformats.org/drawingml/2006/main">
              <a:ext uri="{FF2B5EF4-FFF2-40B4-BE49-F238E27FC236}">
                <a16:creationId xmlns:a16="http://schemas.microsoft.com/office/drawing/2014/main" id="{72CF56D8-E7E7-4D5B-A505-1CA2E8F8EDC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7EE0944B-F2A9-43A3-8E7B-12C59084EE27}"/>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47DC4C65-1AAC-4415-8F6F-9752C180A2DE}"/>
              </a:ext>
            </a:extLst>
          </p:cNvPr>
          <p:cNvSpPr>
            <a:spLocks xmlns:a="http://schemas.openxmlformats.org/drawingml/2006/main" noGrp="1"/>
          </p:cNvSpPr>
          <p:nvPr/>
        </p:nvSpPr>
        <p:spPr>
          <a:xfrm xmlns:a="http://schemas.openxmlformats.org/drawingml/2006/main">
            <a:off x="609600" y="27622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4FBCB48-B2AB-4C64-BB08-EAFBE0696CB0}"/>
              </a:ext>
            </a:extLst>
          </p:cNvPr>
          <p:cNvSpPr>
            <a:spLocks xmlns:a="http://schemas.openxmlformats.org/drawingml/2006/main" noGrp="1"/>
          </p:cNvSpPr>
          <p:nvPr/>
        </p:nvSpPr>
        <p:spPr>
          <a:xfrm xmlns:a="http://schemas.openxmlformats.org/drawingml/2006/main">
            <a:off x="1381125"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620 aligned stock-days</a:t>
            </a:r>
          </a:p>
        </p:txBody>
      </p:sp>
      <p:sp>
        <p:nvSpPr>
          <p:cNvPr id="8" name="">
            <a:extLst xmlns:a="http://schemas.openxmlformats.org/drawingml/2006/main">
              <a:ext uri="{FF2B5EF4-FFF2-40B4-BE49-F238E27FC236}">
                <a16:creationId xmlns:a16="http://schemas.microsoft.com/office/drawing/2014/main" id="{6E5C91BE-E65B-48E2-8964-B836FAF48393}"/>
              </a:ext>
            </a:extLst>
          </p:cNvPr>
          <p:cNvSpPr>
            <a:spLocks xmlns:a="http://schemas.openxmlformats.org/drawingml/2006/main" noGrp="1"/>
          </p:cNvSpPr>
          <p:nvPr/>
        </p:nvSpPr>
        <p:spPr>
          <a:xfrm xmlns:a="http://schemas.openxmlformats.org/drawingml/2006/main">
            <a:off x="1381125" y="31623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Common shares only; preferred-share suffixes removed</a:t>
            </a:r>
          </a:p>
        </p:txBody>
      </p:sp>
      <p:sp>
        <p:nvSpPr>
          <p:cNvPr id="9" name="">
            <a:extLst xmlns:a="http://schemas.openxmlformats.org/drawingml/2006/main">
              <a:ext uri="{FF2B5EF4-FFF2-40B4-BE49-F238E27FC236}">
                <a16:creationId xmlns:a16="http://schemas.microsoft.com/office/drawing/2014/main" id="{1D482B1E-1CCB-412C-AFE5-E9E451D1CB5E}"/>
              </a:ext>
            </a:extLst>
          </p:cNvPr>
          <p:cNvSpPr>
            <a:spLocks xmlns:a="http://schemas.openxmlformats.org/drawingml/2006/main" noGrp="1"/>
          </p:cNvSpPr>
          <p:nvPr/>
        </p:nvSpPr>
        <p:spPr>
          <a:xfrm xmlns:a="http://schemas.openxmlformats.org/drawingml/2006/main">
            <a:off x="609600" y="37719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822E484-4867-42AB-8466-35D2195B9725}"/>
              </a:ext>
            </a:extLst>
          </p:cNvPr>
          <p:cNvSpPr>
            <a:spLocks xmlns:a="http://schemas.openxmlformats.org/drawingml/2006/main" noGrp="1"/>
          </p:cNvSpPr>
          <p:nvPr/>
        </p:nvSpPr>
        <p:spPr>
          <a:xfrm xmlns:a="http://schemas.openxmlformats.org/drawingml/2006/main">
            <a:off x="1381125" y="37719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Corporate actions handled</a:t>
            </a:r>
          </a:p>
        </p:txBody>
      </p:sp>
      <p:sp>
        <p:nvSpPr>
          <p:cNvPr id="11" name="">
            <a:extLst xmlns:a="http://schemas.openxmlformats.org/drawingml/2006/main">
              <a:ext uri="{FF2B5EF4-FFF2-40B4-BE49-F238E27FC236}">
                <a16:creationId xmlns:a16="http://schemas.microsoft.com/office/drawing/2014/main" id="{3A26C658-FE2E-4150-BE77-911FA4AB0D8E}"/>
              </a:ext>
            </a:extLst>
          </p:cNvPr>
          <p:cNvSpPr>
            <a:spLocks xmlns:a="http://schemas.openxmlformats.org/drawingml/2006/main" noGrp="1"/>
          </p:cNvSpPr>
          <p:nvPr/>
        </p:nvSpPr>
        <p:spPr>
          <a:xfrm xmlns:a="http://schemas.openxmlformats.org/drawingml/2006/main">
            <a:off x="1381125" y="417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Split-adjusted OHLC; unadjusted dollar turnover</a:t>
            </a:r>
          </a:p>
        </p:txBody>
      </p:sp>
      <p:sp>
        <p:nvSpPr>
          <p:cNvPr id="12" name="">
            <a:extLst xmlns:a="http://schemas.openxmlformats.org/drawingml/2006/main">
              <a:ext uri="{FF2B5EF4-FFF2-40B4-BE49-F238E27FC236}">
                <a16:creationId xmlns:a16="http://schemas.microsoft.com/office/drawing/2014/main" id="{EACC5546-A0BF-4E2B-9DF9-937A64F8E867}"/>
              </a:ext>
            </a:extLst>
          </p:cNvPr>
          <p:cNvSpPr>
            <a:spLocks xmlns:a="http://schemas.openxmlformats.org/drawingml/2006/main" noGrp="1"/>
          </p:cNvSpPr>
          <p:nvPr/>
        </p:nvSpPr>
        <p:spPr>
          <a:xfrm xmlns:a="http://schemas.openxmlformats.org/drawingml/2006/main">
            <a:off x="609600" y="47815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8B8412E-2799-4C59-A2C5-AF1F3E4F4B1E}"/>
              </a:ext>
            </a:extLst>
          </p:cNvPr>
          <p:cNvSpPr>
            <a:spLocks xmlns:a="http://schemas.openxmlformats.org/drawingml/2006/main" noGrp="1"/>
          </p:cNvSpPr>
          <p:nvPr/>
        </p:nvSpPr>
        <p:spPr>
          <a:xfrm xmlns:a="http://schemas.openxmlformats.org/drawingml/2006/main">
            <a:off x="1381125"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Benchmark units verified</a:t>
            </a:r>
          </a:p>
        </p:txBody>
      </p:sp>
      <p:sp>
        <p:nvSpPr>
          <p:cNvPr id="14" name="">
            <a:extLst xmlns:a="http://schemas.openxmlformats.org/drawingml/2006/main">
              <a:ext uri="{FF2B5EF4-FFF2-40B4-BE49-F238E27FC236}">
                <a16:creationId xmlns:a16="http://schemas.microsoft.com/office/drawing/2014/main" id="{EBDF704E-6B01-4C30-AEF0-E58203D2F574}"/>
              </a:ext>
            </a:extLst>
          </p:cNvPr>
          <p:cNvSpPr>
            <a:spLocks xmlns:a="http://schemas.openxmlformats.org/drawingml/2006/main" noGrp="1"/>
          </p:cNvSpPr>
          <p:nvPr/>
        </p:nvSpPr>
        <p:spPr>
          <a:xfrm xmlns:a="http://schemas.openxmlformats.org/drawingml/2006/main">
            <a:off x="1381125" y="5181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Decimal spread → monthly capped RMS; five-stock cap</a:t>
            </a:r>
          </a:p>
        </p:txBody>
      </p:sp>
    </p:spTree>
    <p:extLst>
      <p:ext uri="{BB962C8B-B14F-4D97-AF65-F5344CB8AC3E}">
        <p14:creationId xmlns:p14="http://schemas.microsoft.com/office/powerpoint/2010/main" val="1543776287"/>
      </p:ext>
    </p:extLst>
  </p:cSld>
</p:sld>
</file>

<file path=ppt/slides/slide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3132B5-F60A-4031-A289-717C561470D4}"/>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780850E7-F536-47E5-ABAE-60872C6FC7B7}"/>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Monthly agreement is weak in this pilot</a:t>
            </a:r>
          </a:p>
        </p:txBody>
      </p:sp>
      <p:sp>
        <p:nvSpPr>
          <p:cNvPr id="3" name="">
            <a:extLst xmlns:a="http://schemas.openxmlformats.org/drawingml/2006/main">
              <a:ext uri="{FF2B5EF4-FFF2-40B4-BE49-F238E27FC236}">
                <a16:creationId xmlns:a16="http://schemas.microsoft.com/office/drawing/2014/main" id="{3B0DD86B-13FE-4717-962E-408FE312FE93}"/>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The complete monthly vector also agrees with the original R estimator</a:t>
            </a:r>
          </a:p>
        </p:txBody>
      </p:sp>
      <p:sp>
        <p:nvSpPr>
          <p:cNvPr id="4" name="">
            <a:extLst xmlns:a="http://schemas.openxmlformats.org/drawingml/2006/main">
              <a:ext uri="{FF2B5EF4-FFF2-40B4-BE49-F238E27FC236}">
                <a16:creationId xmlns:a16="http://schemas.microsoft.com/office/drawing/2014/main" id="{3B269495-CDCC-441E-9A99-51ED7A83E78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CCFFFE7B-D68E-41EA-BFC9-55AC4D8166A8}"/>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CB6ECA9A-796B-4446-84B0-71C20E47DA95}"/>
              </a:ext>
            </a:extLst>
          </p:cNvPr>
          <p:cNvSpPr>
            <a:spLocks xmlns:a="http://schemas.openxmlformats.org/drawingml/2006/main" noGrp="1"/>
          </p:cNvSpPr>
          <p:nvPr/>
        </p:nvSpPr>
        <p:spPr>
          <a:xfrm xmlns:a="http://schemas.openxmlformats.org/drawingml/2006/main">
            <a:off x="609600" y="2857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007F86"/>
                </a:solidFill>
                <a:latin typeface="Arial"/>
                <a:ea typeface="Arial"/>
                <a:cs typeface="Arial"/>
              </a:defRPr>
            </a:defPPr>
          </a:lstStyle>
          <a:p xmlns:a="http://schemas.openxmlformats.org/drawingml/2006/main">
            <a:pPr>
              <a:defRPr sz="5250" b="1">
                <a:solidFill>
                  <a:srgbClr val="007F86"/>
                </a:solidFill>
                <a:latin typeface="Arial"/>
                <a:ea typeface="Arial"/>
                <a:cs typeface="Arial"/>
              </a:defRPr>
            </a:pPr>
            <a:r>
              <a:rPr sz="5250" b="1">
                <a:solidFill>
                  <a:srgbClr val="007F86"/>
                </a:solidFill>
                <a:latin typeface="Arial"/>
                <a:ea typeface="Arial"/>
                <a:cs typeface="Arial"/>
              </a:rPr>
              <a:t>0.0304</a:t>
            </a:r>
          </a:p>
        </p:txBody>
      </p:sp>
      <p:sp>
        <p:nvSpPr>
          <p:cNvPr id="7" name="">
            <a:extLst xmlns:a="http://schemas.openxmlformats.org/drawingml/2006/main">
              <a:ext uri="{FF2B5EF4-FFF2-40B4-BE49-F238E27FC236}">
                <a16:creationId xmlns:a16="http://schemas.microsoft.com/office/drawing/2014/main" id="{87BBF001-CD7C-427E-B9A9-ABEEC1B9D6D2}"/>
              </a:ext>
            </a:extLst>
          </p:cNvPr>
          <p:cNvSpPr>
            <a:spLocks xmlns:a="http://schemas.openxmlformats.org/drawingml/2006/main" noGrp="1"/>
          </p:cNvSpPr>
          <p:nvPr/>
        </p:nvSpPr>
        <p:spPr>
          <a:xfrm xmlns:a="http://schemas.openxmlformats.org/drawingml/2006/main">
            <a:off x="609600" y="39052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570"/>
                </a:solidFill>
                <a:latin typeface="Arial"/>
                <a:ea typeface="Arial"/>
                <a:cs typeface="Arial"/>
              </a:defRPr>
            </a:defPPr>
          </a:lstStyle>
          <a:p xmlns:a="http://schemas.openxmlformats.org/drawingml/2006/main">
            <a:pPr>
              <a:defRPr sz="1875" b="0">
                <a:solidFill>
                  <a:srgbClr val="526570"/>
                </a:solidFill>
                <a:latin typeface="Arial"/>
                <a:ea typeface="Arial"/>
                <a:cs typeface="Arial"/>
              </a:defRPr>
            </a:pPr>
            <a:r>
              <a:rPr sz="1875" b="0">
                <a:solidFill>
                  <a:srgbClr val="526570"/>
                </a:solidFill>
                <a:latin typeface="Arial"/>
                <a:ea typeface="Arial"/>
                <a:cs typeface="Arial"/>
              </a:rPr>
              <a:t>Pearson correlation</a:t>
            </a:r>
          </a:p>
        </p:txBody>
      </p:sp>
      <p:sp>
        <p:nvSpPr>
          <p:cNvPr id="8" name="">
            <a:extLst xmlns:a="http://schemas.openxmlformats.org/drawingml/2006/main">
              <a:ext uri="{FF2B5EF4-FFF2-40B4-BE49-F238E27FC236}">
                <a16:creationId xmlns:a16="http://schemas.microsoft.com/office/drawing/2014/main" id="{66C6180D-A343-4146-929D-AB1A0BF2895D}"/>
              </a:ext>
            </a:extLst>
          </p:cNvPr>
          <p:cNvSpPr>
            <a:spLocks xmlns:a="http://schemas.openxmlformats.org/drawingml/2006/main" noGrp="1"/>
          </p:cNvSpPr>
          <p:nvPr/>
        </p:nvSpPr>
        <p:spPr>
          <a:xfrm xmlns:a="http://schemas.openxmlformats.org/drawingml/2006/main">
            <a:off x="4333875" y="28575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007F86"/>
                </a:solidFill>
                <a:latin typeface="Arial"/>
                <a:ea typeface="Arial"/>
                <a:cs typeface="Arial"/>
              </a:defRPr>
            </a:defPPr>
          </a:lstStyle>
          <a:p xmlns:a="http://schemas.openxmlformats.org/drawingml/2006/main">
            <a:pPr>
              <a:defRPr sz="5250" b="1">
                <a:solidFill>
                  <a:srgbClr val="007F86"/>
                </a:solidFill>
                <a:latin typeface="Arial"/>
                <a:ea typeface="Arial"/>
                <a:cs typeface="Arial"/>
              </a:defRPr>
            </a:pPr>
            <a:r>
              <a:rPr sz="5250" b="1">
                <a:solidFill>
                  <a:srgbClr val="007F86"/>
                </a:solidFill>
                <a:latin typeface="Arial"/>
                <a:ea typeface="Arial"/>
                <a:cs typeface="Arial"/>
              </a:rPr>
              <a:t>37.983</a:t>
            </a:r>
          </a:p>
        </p:txBody>
      </p:sp>
      <p:sp>
        <p:nvSpPr>
          <p:cNvPr id="9" name="">
            <a:extLst xmlns:a="http://schemas.openxmlformats.org/drawingml/2006/main">
              <a:ext uri="{FF2B5EF4-FFF2-40B4-BE49-F238E27FC236}">
                <a16:creationId xmlns:a16="http://schemas.microsoft.com/office/drawing/2014/main" id="{A8944FA0-41B5-4686-ADB2-05FA36FC430A}"/>
              </a:ext>
            </a:extLst>
          </p:cNvPr>
          <p:cNvSpPr>
            <a:spLocks xmlns:a="http://schemas.openxmlformats.org/drawingml/2006/main" noGrp="1"/>
          </p:cNvSpPr>
          <p:nvPr/>
        </p:nvSpPr>
        <p:spPr>
          <a:xfrm xmlns:a="http://schemas.openxmlformats.org/drawingml/2006/main">
            <a:off x="4333875" y="390525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570"/>
                </a:solidFill>
                <a:latin typeface="Arial"/>
                <a:ea typeface="Arial"/>
                <a:cs typeface="Arial"/>
              </a:defRPr>
            </a:defPPr>
          </a:lstStyle>
          <a:p xmlns:a="http://schemas.openxmlformats.org/drawingml/2006/main">
            <a:pPr>
              <a:defRPr sz="1875" b="0">
                <a:solidFill>
                  <a:srgbClr val="526570"/>
                </a:solidFill>
                <a:latin typeface="Arial"/>
                <a:ea typeface="Arial"/>
                <a:cs typeface="Arial"/>
              </a:defRPr>
            </a:pPr>
            <a:r>
              <a:rPr sz="1875" b="0">
                <a:solidFill>
                  <a:srgbClr val="526570"/>
                </a:solidFill>
                <a:latin typeface="Arial"/>
                <a:ea typeface="Arial"/>
                <a:cs typeface="Arial"/>
              </a:rPr>
              <a:t>Linear RMSE, bps</a:t>
            </a:r>
          </a:p>
        </p:txBody>
      </p:sp>
      <p:sp>
        <p:nvSpPr>
          <p:cNvPr id="10" name="">
            <a:extLst xmlns:a="http://schemas.openxmlformats.org/drawingml/2006/main">
              <a:ext uri="{FF2B5EF4-FFF2-40B4-BE49-F238E27FC236}">
                <a16:creationId xmlns:a16="http://schemas.microsoft.com/office/drawing/2014/main" id="{39DAC1FF-4054-4FAE-93CC-ECD5D3F3D27F}"/>
              </a:ext>
            </a:extLst>
          </p:cNvPr>
          <p:cNvSpPr>
            <a:spLocks xmlns:a="http://schemas.openxmlformats.org/drawingml/2006/main" noGrp="1"/>
          </p:cNvSpPr>
          <p:nvPr/>
        </p:nvSpPr>
        <p:spPr>
          <a:xfrm xmlns:a="http://schemas.openxmlformats.org/drawingml/2006/main">
            <a:off x="8048625" y="285750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007F86"/>
                </a:solidFill>
                <a:latin typeface="Arial"/>
                <a:ea typeface="Arial"/>
                <a:cs typeface="Arial"/>
              </a:defRPr>
            </a:defPPr>
          </a:lstStyle>
          <a:p xmlns:a="http://schemas.openxmlformats.org/drawingml/2006/main">
            <a:pPr>
              <a:defRPr sz="5250" b="1">
                <a:solidFill>
                  <a:srgbClr val="007F86"/>
                </a:solidFill>
                <a:latin typeface="Arial"/>
                <a:ea typeface="Arial"/>
                <a:cs typeface="Arial"/>
              </a:defRPr>
            </a:pPr>
            <a:r>
              <a:rPr sz="5250" b="1">
                <a:solidFill>
                  <a:srgbClr val="007F86"/>
                </a:solidFill>
                <a:latin typeface="Arial"/>
                <a:ea typeface="Arial"/>
                <a:cs typeface="Arial"/>
              </a:rPr>
              <a:t>16 / 30</a:t>
            </a:r>
          </a:p>
        </p:txBody>
      </p:sp>
      <p:sp>
        <p:nvSpPr>
          <p:cNvPr id="11" name="">
            <a:extLst xmlns:a="http://schemas.openxmlformats.org/drawingml/2006/main">
              <a:ext uri="{FF2B5EF4-FFF2-40B4-BE49-F238E27FC236}">
                <a16:creationId xmlns:a16="http://schemas.microsoft.com/office/drawing/2014/main" id="{9CD59993-5702-47D6-8671-5665142A5FB6}"/>
              </a:ext>
            </a:extLst>
          </p:cNvPr>
          <p:cNvSpPr>
            <a:spLocks xmlns:a="http://schemas.openxmlformats.org/drawingml/2006/main" noGrp="1"/>
          </p:cNvSpPr>
          <p:nvPr/>
        </p:nvSpPr>
        <p:spPr>
          <a:xfrm xmlns:a="http://schemas.openxmlformats.org/drawingml/2006/main">
            <a:off x="8048625" y="390525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570"/>
                </a:solidFill>
                <a:latin typeface="Arial"/>
                <a:ea typeface="Arial"/>
                <a:cs typeface="Arial"/>
              </a:defRPr>
            </a:defPPr>
          </a:lstStyle>
          <a:p xmlns:a="http://schemas.openxmlformats.org/drawingml/2006/main">
            <a:pPr>
              <a:defRPr sz="1875" b="0">
                <a:solidFill>
                  <a:srgbClr val="526570"/>
                </a:solidFill>
                <a:latin typeface="Arial"/>
                <a:ea typeface="Arial"/>
                <a:cs typeface="Arial"/>
              </a:defRPr>
            </a:pPr>
            <a:r>
              <a:rPr sz="1875" b="0">
                <a:solidFill>
                  <a:srgbClr val="526570"/>
                </a:solidFill>
                <a:latin typeface="Arial"/>
                <a:ea typeface="Arial"/>
                <a:cs typeface="Arial"/>
              </a:rPr>
              <a:t>Zero EDGE estimates</a:t>
            </a:r>
          </a:p>
        </p:txBody>
      </p:sp>
      <p:sp>
        <p:nvSpPr>
          <p:cNvPr id="12" name="">
            <a:extLst xmlns:a="http://schemas.openxmlformats.org/drawingml/2006/main">
              <a:ext uri="{FF2B5EF4-FFF2-40B4-BE49-F238E27FC236}">
                <a16:creationId xmlns:a16="http://schemas.microsoft.com/office/drawing/2014/main" id="{6797DB73-F587-42A7-8239-7E2758F37C8A}"/>
              </a:ext>
            </a:extLst>
          </p:cNvPr>
          <p:cNvSpPr>
            <a:spLocks xmlns:a="http://schemas.openxmlformats.org/drawingml/2006/main" noGrp="1"/>
          </p:cNvSpPr>
          <p:nvPr/>
        </p:nvSpPr>
        <p:spPr>
          <a:xfrm xmlns:a="http://schemas.openxmlformats.org/drawingml/2006/main">
            <a:off x="609600" y="52863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42C3B"/>
                </a:solidFill>
                <a:latin typeface="Arial"/>
                <a:ea typeface="Arial"/>
                <a:cs typeface="Arial"/>
              </a:defRPr>
            </a:defPPr>
          </a:lstStyle>
          <a:p xmlns:a="http://schemas.openxmlformats.org/drawingml/2006/main">
            <a:pPr>
              <a:defRPr sz="1950" b="1">
                <a:solidFill>
                  <a:srgbClr val="142C3B"/>
                </a:solidFill>
                <a:latin typeface="Arial"/>
                <a:ea typeface="Arial"/>
                <a:cs typeface="Arial"/>
              </a:defRPr>
            </a:pPr>
            <a:r>
              <a:rPr sz="1950" b="1">
                <a:solidFill>
                  <a:srgbClr val="142C3B"/>
                </a:solidFill>
                <a:latin typeface="Arial"/>
                <a:ea typeface="Arial"/>
                <a:cs typeface="Arial"/>
              </a:rPr>
              <a:t>Small sample + short windows: no full-paper empirical claim.</a:t>
            </a:r>
          </a:p>
        </p:txBody>
      </p:sp>
    </p:spTree>
    <p:extLst>
      <p:ext uri="{BB962C8B-B14F-4D97-AF65-F5344CB8AC3E}">
        <p14:creationId xmlns:p14="http://schemas.microsoft.com/office/powerpoint/2010/main" val="648185002"/>
      </p:ext>
    </p:extLst>
  </p:cSld>
</p:sld>
</file>

<file path=ppt/slides/slide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1CDEF2E-C04F-4984-B408-AA0C16B0C0F8}"/>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9B3A6134-715E-4580-84A8-0B536533CA68}"/>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Intraday matching protects the benchmark</a:t>
            </a:r>
          </a:p>
        </p:txBody>
      </p:sp>
      <p:sp>
        <p:nvSpPr>
          <p:cNvPr id="3" name="">
            <a:extLst xmlns:a="http://schemas.openxmlformats.org/drawingml/2006/main">
              <a:ext uri="{FF2B5EF4-FFF2-40B4-BE49-F238E27FC236}">
                <a16:creationId xmlns:a16="http://schemas.microsoft.com/office/drawing/2014/main" id="{1D64C631-C665-4D1B-A031-22B12475FDDA}"/>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Trade time → strictly earlier valid NBBO → effective spread</a:t>
            </a:r>
          </a:p>
        </p:txBody>
      </p:sp>
      <p:sp>
        <p:nvSpPr>
          <p:cNvPr id="4" name="">
            <a:extLst xmlns:a="http://schemas.openxmlformats.org/drawingml/2006/main">
              <a:ext uri="{FF2B5EF4-FFF2-40B4-BE49-F238E27FC236}">
                <a16:creationId xmlns:a16="http://schemas.microsoft.com/office/drawing/2014/main" id="{46ED1730-BF81-4E86-A493-8E8A7669B93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A003D262-3C29-42D7-92A3-200595F34E29}"/>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BA6CACCA-697C-49A8-8BE0-EF9D9654A9F7}"/>
              </a:ext>
            </a:extLst>
          </p:cNvPr>
          <p:cNvSpPr>
            <a:spLocks xmlns:a="http://schemas.openxmlformats.org/drawingml/2006/main" noGrp="1"/>
          </p:cNvSpPr>
          <p:nvPr/>
        </p:nvSpPr>
        <p:spPr>
          <a:xfrm xmlns:a="http://schemas.openxmlformats.org/drawingml/2006/main">
            <a:off x="609600" y="27622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50BB572-B45A-48A4-AA28-FE29403C7F33}"/>
              </a:ext>
            </a:extLst>
          </p:cNvPr>
          <p:cNvSpPr>
            <a:spLocks xmlns:a="http://schemas.openxmlformats.org/drawingml/2006/main" noGrp="1"/>
          </p:cNvSpPr>
          <p:nvPr/>
        </p:nvSpPr>
        <p:spPr>
          <a:xfrm xmlns:a="http://schemas.openxmlformats.org/drawingml/2006/main">
            <a:off x="1381125"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Clean trades and quotes</a:t>
            </a:r>
          </a:p>
        </p:txBody>
      </p:sp>
      <p:sp>
        <p:nvSpPr>
          <p:cNvPr id="8" name="">
            <a:extLst xmlns:a="http://schemas.openxmlformats.org/drawingml/2006/main">
              <a:ext uri="{FF2B5EF4-FFF2-40B4-BE49-F238E27FC236}">
                <a16:creationId xmlns:a16="http://schemas.microsoft.com/office/drawing/2014/main" id="{519D5CD2-B539-4C54-8AEA-544DA34C88EA}"/>
              </a:ext>
            </a:extLst>
          </p:cNvPr>
          <p:cNvSpPr>
            <a:spLocks xmlns:a="http://schemas.openxmlformats.org/drawingml/2006/main" noGrp="1"/>
          </p:cNvSpPr>
          <p:nvPr/>
        </p:nvSpPr>
        <p:spPr>
          <a:xfrm xmlns:a="http://schemas.openxmlformats.org/drawingml/2006/main">
            <a:off x="1381125" y="31623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Keep invalid quote updates as barriers; reject ambiguous ties</a:t>
            </a:r>
          </a:p>
        </p:txBody>
      </p:sp>
      <p:sp>
        <p:nvSpPr>
          <p:cNvPr id="9" name="">
            <a:extLst xmlns:a="http://schemas.openxmlformats.org/drawingml/2006/main">
              <a:ext uri="{FF2B5EF4-FFF2-40B4-BE49-F238E27FC236}">
                <a16:creationId xmlns:a16="http://schemas.microsoft.com/office/drawing/2014/main" id="{92BA1F5C-B651-4859-AEA1-0E2AFBCFECC3}"/>
              </a:ext>
            </a:extLst>
          </p:cNvPr>
          <p:cNvSpPr>
            <a:spLocks xmlns:a="http://schemas.openxmlformats.org/drawingml/2006/main" noGrp="1"/>
          </p:cNvSpPr>
          <p:nvPr/>
        </p:nvSpPr>
        <p:spPr>
          <a:xfrm xmlns:a="http://schemas.openxmlformats.org/drawingml/2006/main">
            <a:off x="609600" y="37719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10BAE29C-CF33-4B10-A259-B56472BAE123}"/>
              </a:ext>
            </a:extLst>
          </p:cNvPr>
          <p:cNvSpPr>
            <a:spLocks xmlns:a="http://schemas.openxmlformats.org/drawingml/2006/main" noGrp="1"/>
          </p:cNvSpPr>
          <p:nvPr/>
        </p:nvSpPr>
        <p:spPr>
          <a:xfrm xmlns:a="http://schemas.openxmlformats.org/drawingml/2006/main">
            <a:off x="1381125" y="37719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Align without looking forward</a:t>
            </a:r>
          </a:p>
        </p:txBody>
      </p:sp>
      <p:sp>
        <p:nvSpPr>
          <p:cNvPr id="11" name="">
            <a:extLst xmlns:a="http://schemas.openxmlformats.org/drawingml/2006/main">
              <a:ext uri="{FF2B5EF4-FFF2-40B4-BE49-F238E27FC236}">
                <a16:creationId xmlns:a16="http://schemas.microsoft.com/office/drawing/2014/main" id="{3E2CA89D-87D7-4AEE-8FCD-A2B63BE4243C}"/>
              </a:ext>
            </a:extLst>
          </p:cNvPr>
          <p:cNvSpPr>
            <a:spLocks xmlns:a="http://schemas.openxmlformats.org/drawingml/2006/main" noGrp="1"/>
          </p:cNvSpPr>
          <p:nvPr/>
        </p:nvSpPr>
        <p:spPr>
          <a:xfrm xmlns:a="http://schemas.openxmlformats.org/drawingml/2006/main">
            <a:off x="1381125" y="417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Strictly preceding NBBO; maximum quote age 5 seconds</a:t>
            </a:r>
          </a:p>
        </p:txBody>
      </p:sp>
      <p:sp>
        <p:nvSpPr>
          <p:cNvPr id="12" name="">
            <a:extLst xmlns:a="http://schemas.openxmlformats.org/drawingml/2006/main">
              <a:ext uri="{FF2B5EF4-FFF2-40B4-BE49-F238E27FC236}">
                <a16:creationId xmlns:a16="http://schemas.microsoft.com/office/drawing/2014/main" id="{538A0B30-1BF7-4264-868C-A747D563CF66}"/>
              </a:ext>
            </a:extLst>
          </p:cNvPr>
          <p:cNvSpPr>
            <a:spLocks xmlns:a="http://schemas.openxmlformats.org/drawingml/2006/main" noGrp="1"/>
          </p:cNvSpPr>
          <p:nvPr/>
        </p:nvSpPr>
        <p:spPr>
          <a:xfrm xmlns:a="http://schemas.openxmlformats.org/drawingml/2006/main">
            <a:off x="609600" y="47815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A2115C9-4856-4CB0-A645-34E7B51FB25A}"/>
              </a:ext>
            </a:extLst>
          </p:cNvPr>
          <p:cNvSpPr>
            <a:spLocks xmlns:a="http://schemas.openxmlformats.org/drawingml/2006/main" noGrp="1"/>
          </p:cNvSpPr>
          <p:nvPr/>
        </p:nvSpPr>
        <p:spPr>
          <a:xfrm xmlns:a="http://schemas.openxmlformats.org/drawingml/2006/main">
            <a:off x="1381125"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Compare the same horizon</a:t>
            </a:r>
          </a:p>
        </p:txBody>
      </p:sp>
      <p:sp>
        <p:nvSpPr>
          <p:cNvPr id="14" name="">
            <a:extLst xmlns:a="http://schemas.openxmlformats.org/drawingml/2006/main">
              <a:ext uri="{FF2B5EF4-FFF2-40B4-BE49-F238E27FC236}">
                <a16:creationId xmlns:a16="http://schemas.microsoft.com/office/drawing/2014/main" id="{23DDA58E-8E59-4A2A-A633-4D3CD46A5A86}"/>
              </a:ext>
            </a:extLst>
          </p:cNvPr>
          <p:cNvSpPr>
            <a:spLocks xmlns:a="http://schemas.openxmlformats.org/drawingml/2006/main" noGrp="1"/>
          </p:cNvSpPr>
          <p:nvPr/>
        </p:nvSpPr>
        <p:spPr>
          <a:xfrm xmlns:a="http://schemas.openxmlformats.org/drawingml/2006/main">
            <a:off x="1381125" y="5181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30-minute windows; valid minute bars; RMS effective spread</a:t>
            </a:r>
          </a:p>
        </p:txBody>
      </p:sp>
    </p:spTree>
    <p:extLst>
      <p:ext uri="{BB962C8B-B14F-4D97-AF65-F5344CB8AC3E}">
        <p14:creationId xmlns:p14="http://schemas.microsoft.com/office/powerpoint/2010/main" val="704331430"/>
      </p:ext>
    </p:extLst>
  </p:cSld>
</p:sld>
</file>

<file path=ppt/slides/slide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7CFBF35-27FD-4B11-8E63-CCAB1D0A1669}"/>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A3E9AA17-4253-4C11-B354-49681E533761}"/>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Event dates are verified; timing labels stay cautious</a:t>
            </a:r>
          </a:p>
        </p:txBody>
      </p:sp>
      <p:sp>
        <p:nvSpPr>
          <p:cNvPr id="3" name="">
            <a:extLst xmlns:a="http://schemas.openxmlformats.org/drawingml/2006/main">
              <a:ext uri="{FF2B5EF4-FFF2-40B4-BE49-F238E27FC236}">
                <a16:creationId xmlns:a16="http://schemas.microsoft.com/office/drawing/2014/main" id="{F7122E6A-24CE-4754-A21C-713D271E9F2F}"/>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One announcement per firm, one control and two adjacent sessions</a:t>
            </a:r>
          </a:p>
        </p:txBody>
      </p:sp>
      <p:sp>
        <p:nvSpPr>
          <p:cNvPr id="4" name="">
            <a:extLst xmlns:a="http://schemas.openxmlformats.org/drawingml/2006/main">
              <a:ext uri="{FF2B5EF4-FFF2-40B4-BE49-F238E27FC236}">
                <a16:creationId xmlns:a16="http://schemas.microsoft.com/office/drawing/2014/main" id="{28B3B150-DE12-41BC-9903-489287209EFF}"/>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D7769328-739D-4931-880D-E307F400F747}"/>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08</a:t>
            </a:r>
          </a:p>
        </p:txBody>
      </p:sp>
      <p:graphicFrame>
        <p:nvGraphicFramePr>
          <p:cNvPr id="6" name="">
            <a:extLst xmlns:a="http://schemas.openxmlformats.org/drawingml/2006/main">
              <a:ext uri="{FF2B5EF4-FFF2-40B4-BE49-F238E27FC236}">
                <a16:creationId xmlns:a16="http://schemas.microsoft.com/office/drawing/2014/main" id="{C4601CEB-7981-44D5-AC89-159FC67753D1}"/>
              </a:ext>
            </a:extLst>
          </p:cNvPr>
          <p:cNvGraphicFramePr/>
          <p:nvPr/>
        </p:nvGraphicFramePr>
        <p:xfrm>
          <a:off xmlns:a="http://schemas.openxmlformats.org/drawingml/2006/main" x="609600" y="2619375"/>
          <a:ext xmlns:a="http://schemas.openxmlformats.org/drawingml/2006/main" cx="10972800" cy="3143250"/>
        </p:xfrm>
        <a:graphic xmlns:a="http://schemas.openxmlformats.org/drawingml/2006/main">
          <a:graphicData uri="http://schemas.openxmlformats.org/drawingml/2006/table">
            <a:tbl>
              <a:tblPr/>
              <a:tblGrid>
                <a:gridCol w="2095500"/>
                <a:gridCol w="2952750"/>
                <a:gridCol w="2286000"/>
                <a:gridCol w="3638550"/>
              </a:tblGrid>
              <a:tr h="523875">
                <a:tc>
                  <a:txBody>
                    <a:bodyPr/>
                    <a:lstStyle/>
                    <a:p>
                      <a:r>
                        <a:rPr sz="1575" b="1">
                          <a:solidFill>
                            <a:srgbClr val="FFFFFF"/>
                          </a:solidFill>
                          <a:latin typeface="Arial"/>
                          <a:ea typeface="Arial"/>
                          <a:cs typeface="Arial"/>
                        </a:rPr>
                        <a:t>Company</a:t>
                      </a:r>
                    </a:p>
                  </a:txBody>
                  <a:tcPr marL="91440" marR="91440" marT="45720" marB="4572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c>
                  <a:txBody>
                    <a:bodyPr/>
                    <a:lstStyle/>
                    <a:p>
                      <a:r>
                        <a:rPr sz="1575" b="1">
                          <a:solidFill>
                            <a:srgbClr val="FFFFFF"/>
                          </a:solidFill>
                          <a:latin typeface="Arial"/>
                          <a:ea typeface="Arial"/>
                          <a:cs typeface="Arial"/>
                        </a:rPr>
                        <a:t>Announcement</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c>
                  <a:txBody>
                    <a:bodyPr/>
                    <a:lstStyle/>
                    <a:p>
                      <a:r>
                        <a:rPr sz="1575" b="1">
                          <a:solidFill>
                            <a:srgbClr val="FFFFFF"/>
                          </a:solidFill>
                          <a:latin typeface="Arial"/>
                          <a:ea typeface="Arial"/>
                          <a:cs typeface="Arial"/>
                        </a:rPr>
                        <a:t>Control</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c>
                  <a:txBody>
                    <a:bodyPr/>
                    <a:lstStyle/>
                    <a:p>
                      <a:r>
                        <a:rPr sz="1575" b="1">
                          <a:solidFill>
                            <a:srgbClr val="FFFFFF"/>
                          </a:solidFill>
                          <a:latin typeface="Arial"/>
                          <a:ea typeface="Arial"/>
                          <a:cs typeface="Arial"/>
                        </a:rPr>
                        <a:t>Adjacent sessions</a:t>
                      </a:r>
                    </a:p>
                  </a:txBody>
                  <a:tcPr marL="91440" marR="91440" marT="45720" marB="45720">
                    <a:lnR w="19050">
                      <a:solidFill>
                        <a:srgbClr val="FFFFFF"/>
                      </a:solidFill>
                      <a:prstDash val="solid"/>
                    </a:lnR>
                    <a:lnT w="19050">
                      <a:solidFill>
                        <a:srgbClr val="FFFFFF"/>
                      </a:solidFill>
                      <a:prstDash val="solid"/>
                    </a:lnT>
                    <a:lnB w="19050">
                      <a:solidFill>
                        <a:srgbClr val="FFFFFF"/>
                      </a:solidFill>
                      <a:prstDash val="solid"/>
                    </a:lnB>
                    <a:solidFill>
                      <a:srgbClr val="142C3B"/>
                    </a:solidFill>
                  </a:tcPr>
                </a:tc>
              </a:tr>
              <a:tr h="523875">
                <a:tc>
                  <a:txBody>
                    <a:bodyPr/>
                    <a:lstStyle/>
                    <a:p>
                      <a:r>
                        <a:rPr sz="1575" b="0">
                          <a:solidFill>
                            <a:srgbClr val="142C3B"/>
                          </a:solidFill>
                          <a:latin typeface="Arial"/>
                          <a:ea typeface="Arial"/>
                          <a:cs typeface="Arial"/>
                        </a:rPr>
                        <a:t>MSFT</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30 Jan 2024</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23 Jan</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29 Jan, 31 Jan</a:t>
                      </a:r>
                    </a:p>
                  </a:txBody>
                  <a:tcPr marL="91440" marR="91440" marT="45720" marB="45720">
                    <a:lnR w="19050">
                      <a:solidFill>
                        <a:srgbClr val="FFFFFF"/>
                      </a:solidFill>
                      <a:prstDash val="solid"/>
                    </a:lnR>
                    <a:lnB w="19050">
                      <a:solidFill>
                        <a:srgbClr val="FFFFFF"/>
                      </a:solidFill>
                      <a:prstDash val="solid"/>
                    </a:lnB>
                    <a:solidFill>
                      <a:srgbClr val="FFFFFF"/>
                    </a:solidFill>
                  </a:tcPr>
                </a:tc>
              </a:tr>
              <a:tr h="523875">
                <a:tc>
                  <a:txBody>
                    <a:bodyPr/>
                    <a:lstStyle/>
                    <a:p>
                      <a:r>
                        <a:rPr sz="1575" b="0">
                          <a:solidFill>
                            <a:srgbClr val="142C3B"/>
                          </a:solidFill>
                          <a:latin typeface="Arial"/>
                          <a:ea typeface="Arial"/>
                          <a:cs typeface="Arial"/>
                        </a:rPr>
                        <a:t>AAPL</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1 Feb 2024</a:t>
                      </a:r>
                    </a:p>
                  </a:txBody>
                  <a:tcPr marL="91440" marR="91440" marT="45720" marB="45720">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25 Jan</a:t>
                      </a:r>
                    </a:p>
                  </a:txBody>
                  <a:tcPr marL="91440" marR="91440" marT="45720" marB="45720">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31 Jan, 2 Feb</a:t>
                      </a:r>
                    </a:p>
                  </a:txBody>
                  <a:tcPr marL="91440" marR="91440" marT="45720" marB="45720">
                    <a:lnR w="19050">
                      <a:solidFill>
                        <a:srgbClr val="FFFFFF"/>
                      </a:solidFill>
                      <a:prstDash val="solid"/>
                    </a:lnR>
                    <a:lnB w="19050">
                      <a:solidFill>
                        <a:srgbClr val="FFFFFF"/>
                      </a:solidFill>
                      <a:prstDash val="solid"/>
                    </a:lnB>
                    <a:solidFill>
                      <a:srgbClr val="E8EEF0"/>
                    </a:solidFill>
                  </a:tcPr>
                </a:tc>
              </a:tr>
              <a:tr h="523875">
                <a:tc>
                  <a:txBody>
                    <a:bodyPr/>
                    <a:lstStyle/>
                    <a:p>
                      <a:r>
                        <a:rPr sz="1575" b="0">
                          <a:solidFill>
                            <a:srgbClr val="142C3B"/>
                          </a:solidFill>
                          <a:latin typeface="Arial"/>
                          <a:ea typeface="Arial"/>
                          <a:cs typeface="Arial"/>
                        </a:rPr>
                        <a:t>XOM</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2 Feb 2024</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26 Jan</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1 Feb, 2 Feb</a:t>
                      </a:r>
                    </a:p>
                  </a:txBody>
                  <a:tcPr marL="91440" marR="91440" marT="45720" marB="45720">
                    <a:lnR w="19050">
                      <a:solidFill>
                        <a:srgbClr val="FFFFFF"/>
                      </a:solidFill>
                      <a:prstDash val="solid"/>
                    </a:lnR>
                    <a:lnB w="19050">
                      <a:solidFill>
                        <a:srgbClr val="FFFFFF"/>
                      </a:solidFill>
                      <a:prstDash val="solid"/>
                    </a:lnB>
                    <a:solidFill>
                      <a:srgbClr val="FFFFFF"/>
                    </a:solidFill>
                  </a:tcPr>
                </a:tc>
              </a:tr>
              <a:tr h="523875">
                <a:tc>
                  <a:txBody>
                    <a:bodyPr/>
                    <a:lstStyle/>
                    <a:p>
                      <a:r>
                        <a:rPr sz="1575" b="0">
                          <a:solidFill>
                            <a:srgbClr val="142C3B"/>
                          </a:solidFill>
                          <a:latin typeface="Arial"/>
                          <a:ea typeface="Arial"/>
                          <a:cs typeface="Arial"/>
                        </a:rPr>
                        <a:t>JPM</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12 Jan 2024</a:t>
                      </a:r>
                    </a:p>
                  </a:txBody>
                  <a:tcPr marL="91440" marR="91440" marT="45720" marB="45720">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5 Jan</a:t>
                      </a:r>
                    </a:p>
                  </a:txBody>
                  <a:tcPr marL="91440" marR="91440" marT="45720" marB="45720">
                    <a:lnR w="19050">
                      <a:solidFill>
                        <a:srgbClr val="FFFFFF"/>
                      </a:solidFill>
                      <a:prstDash val="solid"/>
                    </a:lnR>
                    <a:lnB w="19050">
                      <a:solidFill>
                        <a:srgbClr val="FFFFFF"/>
                      </a:solidFill>
                      <a:prstDash val="solid"/>
                    </a:lnB>
                    <a:solidFill>
                      <a:srgbClr val="E8EEF0"/>
                    </a:solidFill>
                  </a:tcPr>
                </a:tc>
                <a:tc>
                  <a:txBody>
                    <a:bodyPr/>
                    <a:lstStyle/>
                    <a:p>
                      <a:r>
                        <a:rPr sz="1575" b="0">
                          <a:solidFill>
                            <a:srgbClr val="142C3B"/>
                          </a:solidFill>
                          <a:latin typeface="Arial"/>
                          <a:ea typeface="Arial"/>
                          <a:cs typeface="Arial"/>
                        </a:rPr>
                        <a:t>11 Jan, 12 Jan</a:t>
                      </a:r>
                    </a:p>
                  </a:txBody>
                  <a:tcPr marL="91440" marR="91440" marT="45720" marB="45720">
                    <a:lnR w="19050">
                      <a:solidFill>
                        <a:srgbClr val="FFFFFF"/>
                      </a:solidFill>
                      <a:prstDash val="solid"/>
                    </a:lnR>
                    <a:lnB w="19050">
                      <a:solidFill>
                        <a:srgbClr val="FFFFFF"/>
                      </a:solidFill>
                      <a:prstDash val="solid"/>
                    </a:lnB>
                    <a:solidFill>
                      <a:srgbClr val="E8EEF0"/>
                    </a:solidFill>
                  </a:tcPr>
                </a:tc>
              </a:tr>
              <a:tr h="523875">
                <a:tc>
                  <a:txBody>
                    <a:bodyPr/>
                    <a:lstStyle/>
                    <a:p>
                      <a:r>
                        <a:rPr sz="1575" b="0">
                          <a:solidFill>
                            <a:srgbClr val="142C3B"/>
                          </a:solidFill>
                          <a:latin typeface="Arial"/>
                          <a:ea typeface="Arial"/>
                          <a:cs typeface="Arial"/>
                        </a:rPr>
                        <a:t>NVDA</a:t>
                      </a:r>
                    </a:p>
                  </a:txBody>
                  <a:tcPr marL="91440" marR="91440" marT="45720" marB="45720">
                    <a:lnL w="19050">
                      <a:solidFill>
                        <a:srgbClr val="FFFFFF"/>
                      </a:solidFill>
                      <a:prstDash val="solid"/>
                    </a:lnL>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21 Feb 2024</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14 Feb</a:t>
                      </a:r>
                    </a:p>
                  </a:txBody>
                  <a:tcPr marL="91440" marR="91440" marT="45720" marB="45720">
                    <a:lnR w="19050">
                      <a:solidFill>
                        <a:srgbClr val="FFFFFF"/>
                      </a:solidFill>
                      <a:prstDash val="solid"/>
                    </a:lnR>
                    <a:lnB w="19050">
                      <a:solidFill>
                        <a:srgbClr val="FFFFFF"/>
                      </a:solidFill>
                      <a:prstDash val="solid"/>
                    </a:lnB>
                    <a:solidFill>
                      <a:srgbClr val="FFFFFF"/>
                    </a:solidFill>
                  </a:tcPr>
                </a:tc>
                <a:tc>
                  <a:txBody>
                    <a:bodyPr/>
                    <a:lstStyle/>
                    <a:p>
                      <a:r>
                        <a:rPr sz="1575" b="0">
                          <a:solidFill>
                            <a:srgbClr val="142C3B"/>
                          </a:solidFill>
                          <a:latin typeface="Arial"/>
                          <a:ea typeface="Arial"/>
                          <a:cs typeface="Arial"/>
                        </a:rPr>
                        <a:t>20 Feb, 22 Feb</a:t>
                      </a:r>
                    </a:p>
                  </a:txBody>
                  <a:tcPr marL="91440" marR="91440" marT="45720" marB="45720">
                    <a:lnR w="19050">
                      <a:solidFill>
                        <a:srgbClr val="FFFFFF"/>
                      </a:solidFill>
                      <a:prstDash val="solid"/>
                    </a:lnR>
                    <a:lnB w="1905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166289557"/>
      </p:ext>
    </p:extLst>
  </p:cSld>
</p:sld>
</file>

<file path=ppt/slides/slide9.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61332DC-05B7-4AC5-A148-E2FDF96D01C7}"/>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31A7705B-EFE3-4685-A65B-3BF13EB25929}"/>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44 of 45 candidate intervals pass the fixed gates</a:t>
            </a:r>
          </a:p>
        </p:txBody>
      </p:sp>
      <p:sp>
        <p:nvSpPr>
          <p:cNvPr id="3" name="">
            <a:extLst xmlns:a="http://schemas.openxmlformats.org/drawingml/2006/main">
              <a:ext uri="{FF2B5EF4-FFF2-40B4-BE49-F238E27FC236}">
                <a16:creationId xmlns:a16="http://schemas.microsoft.com/office/drawing/2014/main" id="{D4FF9B5B-BBAA-48F0-BD21-18CEAB742D93}"/>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Every candidate contains 30 valid minute bars</a:t>
            </a:r>
          </a:p>
        </p:txBody>
      </p:sp>
      <p:sp>
        <p:nvSpPr>
          <p:cNvPr id="4" name="">
            <a:extLst xmlns:a="http://schemas.openxmlformats.org/drawingml/2006/main">
              <a:ext uri="{FF2B5EF4-FFF2-40B4-BE49-F238E27FC236}">
                <a16:creationId xmlns:a16="http://schemas.microsoft.com/office/drawing/2014/main" id="{2B878939-482B-4A19-8C49-D5E38B0D943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5B0EB39F-D834-46DE-AC0F-DF6F87B8255A}"/>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04477D68-4ABB-40D6-914A-498A3494ABC5}"/>
              </a:ext>
            </a:extLst>
          </p:cNvPr>
          <p:cNvSpPr>
            <a:spLocks xmlns:a="http://schemas.openxmlformats.org/drawingml/2006/main" noGrp="1"/>
          </p:cNvSpPr>
          <p:nvPr/>
        </p:nvSpPr>
        <p:spPr>
          <a:xfrm xmlns:a="http://schemas.openxmlformats.org/drawingml/2006/main">
            <a:off x="609600" y="27622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8BB14DD-1D79-4031-8F8B-B3CED631D300}"/>
              </a:ext>
            </a:extLst>
          </p:cNvPr>
          <p:cNvSpPr>
            <a:spLocks xmlns:a="http://schemas.openxmlformats.org/drawingml/2006/main" noGrp="1"/>
          </p:cNvSpPr>
          <p:nvPr/>
        </p:nvSpPr>
        <p:spPr>
          <a:xfrm xmlns:a="http://schemas.openxmlformats.org/drawingml/2006/main">
            <a:off x="1381125"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2,986,751 cleaned trades</a:t>
            </a:r>
          </a:p>
        </p:txBody>
      </p:sp>
      <p:sp>
        <p:nvSpPr>
          <p:cNvPr id="8" name="">
            <a:extLst xmlns:a="http://schemas.openxmlformats.org/drawingml/2006/main">
              <a:ext uri="{FF2B5EF4-FFF2-40B4-BE49-F238E27FC236}">
                <a16:creationId xmlns:a16="http://schemas.microsoft.com/office/drawing/2014/main" id="{34C139DA-D8FB-442C-AD5C-70A1E740B0BF}"/>
              </a:ext>
            </a:extLst>
          </p:cNvPr>
          <p:cNvSpPr>
            <a:spLocks xmlns:a="http://schemas.openxmlformats.org/drawingml/2006/main" noGrp="1"/>
          </p:cNvSpPr>
          <p:nvPr/>
        </p:nvSpPr>
        <p:spPr>
          <a:xfrm xmlns:a="http://schemas.openxmlformats.org/drawingml/2006/main">
            <a:off x="1381125" y="31623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2,940,428 match valid preceding quotes</a:t>
            </a:r>
          </a:p>
        </p:txBody>
      </p:sp>
      <p:sp>
        <p:nvSpPr>
          <p:cNvPr id="9" name="">
            <a:extLst xmlns:a="http://schemas.openxmlformats.org/drawingml/2006/main">
              <a:ext uri="{FF2B5EF4-FFF2-40B4-BE49-F238E27FC236}">
                <a16:creationId xmlns:a16="http://schemas.microsoft.com/office/drawing/2014/main" id="{8A274AE9-CA7A-400A-8151-32581182155C}"/>
              </a:ext>
            </a:extLst>
          </p:cNvPr>
          <p:cNvSpPr>
            <a:spLocks xmlns:a="http://schemas.openxmlformats.org/drawingml/2006/main" noGrp="1"/>
          </p:cNvSpPr>
          <p:nvPr/>
        </p:nvSpPr>
        <p:spPr>
          <a:xfrm xmlns:a="http://schemas.openxmlformats.org/drawingml/2006/main">
            <a:off x="609600" y="37719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7C4A8574-64A7-476F-A8C9-8BA5D48F9362}"/>
              </a:ext>
            </a:extLst>
          </p:cNvPr>
          <p:cNvSpPr>
            <a:spLocks xmlns:a="http://schemas.openxmlformats.org/drawingml/2006/main" noGrp="1"/>
          </p:cNvSpPr>
          <p:nvPr/>
        </p:nvSpPr>
        <p:spPr>
          <a:xfrm xmlns:a="http://schemas.openxmlformats.org/drawingml/2006/main">
            <a:off x="1381125" y="37719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One transparent exclusion</a:t>
            </a:r>
          </a:p>
        </p:txBody>
      </p:sp>
      <p:sp>
        <p:nvSpPr>
          <p:cNvPr id="11" name="">
            <a:extLst xmlns:a="http://schemas.openxmlformats.org/drawingml/2006/main">
              <a:ext uri="{FF2B5EF4-FFF2-40B4-BE49-F238E27FC236}">
                <a16:creationId xmlns:a16="http://schemas.microsoft.com/office/drawing/2014/main" id="{30D01B43-6A73-46F0-9203-95B797C1B189}"/>
              </a:ext>
            </a:extLst>
          </p:cNvPr>
          <p:cNvSpPr>
            <a:spLocks xmlns:a="http://schemas.openxmlformats.org/drawingml/2006/main" noGrp="1"/>
          </p:cNvSpPr>
          <p:nvPr/>
        </p:nvSpPr>
        <p:spPr>
          <a:xfrm xmlns:a="http://schemas.openxmlformats.org/drawingml/2006/main">
            <a:off x="1381125" y="417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AAPL control midday: 89.671% matching &lt; 90% gate</a:t>
            </a:r>
          </a:p>
        </p:txBody>
      </p:sp>
      <p:sp>
        <p:nvSpPr>
          <p:cNvPr id="12" name="">
            <a:extLst xmlns:a="http://schemas.openxmlformats.org/drawingml/2006/main">
              <a:ext uri="{FF2B5EF4-FFF2-40B4-BE49-F238E27FC236}">
                <a16:creationId xmlns:a16="http://schemas.microsoft.com/office/drawing/2014/main" id="{F5D962D8-1CB2-435D-B8C0-3E56D8FCFD9D}"/>
              </a:ext>
            </a:extLst>
          </p:cNvPr>
          <p:cNvSpPr>
            <a:spLocks xmlns:a="http://schemas.openxmlformats.org/drawingml/2006/main" noGrp="1"/>
          </p:cNvSpPr>
          <p:nvPr/>
        </p:nvSpPr>
        <p:spPr>
          <a:xfrm xmlns:a="http://schemas.openxmlformats.org/drawingml/2006/main">
            <a:off x="609600" y="47815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C316917-3A36-46AD-B8B1-B1F59B11E696}"/>
              </a:ext>
            </a:extLst>
          </p:cNvPr>
          <p:cNvSpPr>
            <a:spLocks xmlns:a="http://schemas.openxmlformats.org/drawingml/2006/main" noGrp="1"/>
          </p:cNvSpPr>
          <p:nvPr/>
        </p:nvSpPr>
        <p:spPr>
          <a:xfrm xmlns:a="http://schemas.openxmlformats.org/drawingml/2006/main">
            <a:off x="1381125"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No threshold changes</a:t>
            </a:r>
          </a:p>
        </p:txBody>
      </p:sp>
      <p:sp>
        <p:nvSpPr>
          <p:cNvPr id="14" name="">
            <a:extLst xmlns:a="http://schemas.openxmlformats.org/drawingml/2006/main">
              <a:ext uri="{FF2B5EF4-FFF2-40B4-BE49-F238E27FC236}">
                <a16:creationId xmlns:a16="http://schemas.microsoft.com/office/drawing/2014/main" id="{52A41D5D-0759-4164-8017-36B41B8F9B01}"/>
              </a:ext>
            </a:extLst>
          </p:cNvPr>
          <p:cNvSpPr>
            <a:spLocks xmlns:a="http://schemas.openxmlformats.org/drawingml/2006/main" noGrp="1"/>
          </p:cNvSpPr>
          <p:nvPr/>
        </p:nvSpPr>
        <p:spPr>
          <a:xfrm xmlns:a="http://schemas.openxmlformats.org/drawingml/2006/main">
            <a:off x="1381125" y="5181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Failed row retained; 19 accepted EDGE estimates are zero</a:t>
            </a:r>
          </a:p>
        </p:txBody>
      </p:sp>
    </p:spTree>
    <p:extLst>
      <p:ext uri="{BB962C8B-B14F-4D97-AF65-F5344CB8AC3E}">
        <p14:creationId xmlns:p14="http://schemas.microsoft.com/office/powerpoint/2010/main" val="1359632506"/>
      </p:ext>
    </p:extLst>
  </p:cSld>
</p:sld>
</file>

<file path=ppt/slides/slide1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8CD72A-3C6A-4E26-AB14-E2A0D5BD94E8}"/>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5E382A22-E4D3-4E5B-9F02-BFCF1887EA47}"/>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Opening-window errors are larger in both groups</a:t>
            </a:r>
          </a:p>
        </p:txBody>
      </p:sp>
      <p:sp>
        <p:nvSpPr>
          <p:cNvPr id="3" name="">
            <a:extLst xmlns:a="http://schemas.openxmlformats.org/drawingml/2006/main">
              <a:ext uri="{FF2B5EF4-FFF2-40B4-BE49-F238E27FC236}">
                <a16:creationId xmlns:a16="http://schemas.microsoft.com/office/drawing/2014/main" id="{73273F4B-0B23-4B6E-97B8-63DCA5B5C6E3}"/>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Median absolute EDGE–benchmark error, basis points</a:t>
            </a:r>
          </a:p>
        </p:txBody>
      </p:sp>
      <p:sp>
        <p:nvSpPr>
          <p:cNvPr id="4" name="">
            <a:extLst xmlns:a="http://schemas.openxmlformats.org/drawingml/2006/main">
              <a:ext uri="{FF2B5EF4-FFF2-40B4-BE49-F238E27FC236}">
                <a16:creationId xmlns:a16="http://schemas.microsoft.com/office/drawing/2014/main" id="{3F0D4237-DB4E-4F70-9392-179E5C001E9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2CCED6F1-2CDD-4461-B856-34AB7850DC3A}"/>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10</a:t>
            </a:r>
          </a:p>
        </p:txBody>
      </p:sp>
      <p:graphicFrame>
        <p:nvGraphicFramePr>
          <p:cNvPr id="6" name="Chart">
            <a:extLst xmlns:a="http://schemas.openxmlformats.org/drawingml/2006/main">
              <a:ext uri="{FF2B5EF4-FFF2-40B4-BE49-F238E27FC236}">
                <a16:creationId xmlns:a16="http://schemas.microsoft.com/office/drawing/2014/main" id="{E73662B7-09C8-468A-934D-3AD3F83DC357}"/>
              </a:ext>
            </a:extLst>
          </p:cNvPr>
          <p:cNvGraphicFramePr/>
          <p:nvPr/>
        </p:nvGraphicFramePr>
        <p:xfrm>
          <a:off xmlns:a="http://schemas.openxmlformats.org/drawingml/2006/main" x="609600" y="2571750"/>
          <a:ext xmlns:a="http://schemas.openxmlformats.org/drawingml/2006/main" cx="10934700" cy="3238500"/>
        </p:xfrm>
        <a:graphic xmlns:a="http://schemas.openxmlformats.org/drawingml/2006/main">
          <a:graphicData uri="http://schemas.openxmlformats.org/drawingml/2006/chart">
            <c:chart xmlns:r="http://schemas.openxmlformats.org/officeDocument/2006/relationships" xmlns:c="http://schemas.openxmlformats.org/drawingml/2006/chart" r:id="R9943be153d954177"/>
          </a:graphicData>
        </a:graphic>
      </p:graphicFrame>
      <p:sp>
        <p:nvSpPr>
          <p:cNvPr id="7" name="">
            <a:extLst xmlns:a="http://schemas.openxmlformats.org/drawingml/2006/main">
              <a:ext uri="{FF2B5EF4-FFF2-40B4-BE49-F238E27FC236}">
                <a16:creationId xmlns:a16="http://schemas.microsoft.com/office/drawing/2014/main" id="{B40C98C4-0F2A-4153-9F25-C476157D4A7B}"/>
              </a:ext>
            </a:extLst>
          </p:cNvPr>
          <p:cNvSpPr>
            <a:spLocks xmlns:a="http://schemas.openxmlformats.org/drawingml/2006/main" noGrp="1"/>
          </p:cNvSpPr>
          <p:nvPr/>
        </p:nvSpPr>
        <p:spPr>
          <a:xfrm xmlns:a="http://schemas.openxmlformats.org/drawingml/2006/main">
            <a:off x="609600" y="592455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570"/>
                </a:solidFill>
                <a:latin typeface="Arial"/>
                <a:ea typeface="Arial"/>
                <a:cs typeface="Arial"/>
              </a:defRPr>
            </a:defPPr>
          </a:lstStyle>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n: control = 5 / 4 / 5; earnings-adjacent = 10 / 10 / 10. Descriptive only.</a:t>
            </a:r>
          </a:p>
        </p:txBody>
      </p:sp>
    </p:spTree>
    <p:extLst>
      <p:ext uri="{BB962C8B-B14F-4D97-AF65-F5344CB8AC3E}">
        <p14:creationId xmlns:p14="http://schemas.microsoft.com/office/powerpoint/2010/main" val="1689440735"/>
      </p:ext>
    </p:extLst>
  </p:cSld>
</p:sld>
</file>

<file path=ppt/slides/slide1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1D0C093-7BC3-4566-9F06-4B72B6A705EB}"/>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047A026E-F828-484A-B314-D189CD03AAD6}"/>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What the evidence supports—and what remains open</a:t>
            </a:r>
          </a:p>
        </p:txBody>
      </p:sp>
      <p:sp>
        <p:nvSpPr>
          <p:cNvPr id="3" name="">
            <a:extLst xmlns:a="http://schemas.openxmlformats.org/drawingml/2006/main">
              <a:ext uri="{FF2B5EF4-FFF2-40B4-BE49-F238E27FC236}">
                <a16:creationId xmlns:a16="http://schemas.microsoft.com/office/drawing/2014/main" id="{E91F5518-40F2-4498-9E38-93A060020D2D}"/>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Implementation validity is stronger than external validity</a:t>
            </a:r>
          </a:p>
        </p:txBody>
      </p:sp>
      <p:sp>
        <p:nvSpPr>
          <p:cNvPr id="4" name="">
            <a:extLst xmlns:a="http://schemas.openxmlformats.org/drawingml/2006/main">
              <a:ext uri="{FF2B5EF4-FFF2-40B4-BE49-F238E27FC236}">
                <a16:creationId xmlns:a16="http://schemas.microsoft.com/office/drawing/2014/main" id="{18D73032-E830-4628-BB98-32E5D79DE61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E1B0D1F8-4FC8-49B1-B005-651C8AA11475}"/>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C61B6C6D-51D9-4961-BBA7-7688AC20DD5C}"/>
              </a:ext>
            </a:extLst>
          </p:cNvPr>
          <p:cNvSpPr>
            <a:spLocks xmlns:a="http://schemas.openxmlformats.org/drawingml/2006/main" noGrp="1"/>
          </p:cNvSpPr>
          <p:nvPr/>
        </p:nvSpPr>
        <p:spPr>
          <a:xfrm xmlns:a="http://schemas.openxmlformats.org/drawingml/2006/main">
            <a:off x="609600" y="27622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C57A7D7-DDC3-4B6C-929F-8BFF7302EAA6}"/>
              </a:ext>
            </a:extLst>
          </p:cNvPr>
          <p:cNvSpPr>
            <a:spLocks xmlns:a="http://schemas.openxmlformats.org/drawingml/2006/main" noGrp="1"/>
          </p:cNvSpPr>
          <p:nvPr/>
        </p:nvSpPr>
        <p:spPr>
          <a:xfrm xmlns:a="http://schemas.openxmlformats.org/drawingml/2006/main">
            <a:off x="1381125"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Verified</a:t>
            </a:r>
          </a:p>
        </p:txBody>
      </p:sp>
      <p:sp>
        <p:nvSpPr>
          <p:cNvPr id="8" name="">
            <a:extLst xmlns:a="http://schemas.openxmlformats.org/drawingml/2006/main">
              <a:ext uri="{FF2B5EF4-FFF2-40B4-BE49-F238E27FC236}">
                <a16:creationId xmlns:a16="http://schemas.microsoft.com/office/drawing/2014/main" id="{1E5819D8-CD67-47E3-960B-C1A3B16A01C0}"/>
              </a:ext>
            </a:extLst>
          </p:cNvPr>
          <p:cNvSpPr>
            <a:spLocks xmlns:a="http://schemas.openxmlformats.org/drawingml/2006/main" noGrp="1"/>
          </p:cNvSpPr>
          <p:nvPr/>
        </p:nvSpPr>
        <p:spPr>
          <a:xfrm xmlns:a="http://schemas.openxmlformats.org/drawingml/2006/main">
            <a:off x="1381125" y="31623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Published cells, R/Python parity, benchmark arithmetic, raw quote spot checks</a:t>
            </a:r>
          </a:p>
        </p:txBody>
      </p:sp>
      <p:sp>
        <p:nvSpPr>
          <p:cNvPr id="9" name="">
            <a:extLst xmlns:a="http://schemas.openxmlformats.org/drawingml/2006/main">
              <a:ext uri="{FF2B5EF4-FFF2-40B4-BE49-F238E27FC236}">
                <a16:creationId xmlns:a16="http://schemas.microsoft.com/office/drawing/2014/main" id="{1E937E19-2DB2-4EA8-9D2B-171A487C65FA}"/>
              </a:ext>
            </a:extLst>
          </p:cNvPr>
          <p:cNvSpPr>
            <a:spLocks xmlns:a="http://schemas.openxmlformats.org/drawingml/2006/main" noGrp="1"/>
          </p:cNvSpPr>
          <p:nvPr/>
        </p:nvSpPr>
        <p:spPr>
          <a:xfrm xmlns:a="http://schemas.openxmlformats.org/drawingml/2006/main">
            <a:off x="609600" y="37719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69D85A21-6280-49BD-9F2C-BAB9F5FBB876}"/>
              </a:ext>
            </a:extLst>
          </p:cNvPr>
          <p:cNvSpPr>
            <a:spLocks xmlns:a="http://schemas.openxmlformats.org/drawingml/2006/main" noGrp="1"/>
          </p:cNvSpPr>
          <p:nvPr/>
        </p:nvSpPr>
        <p:spPr>
          <a:xfrm xmlns:a="http://schemas.openxmlformats.org/drawingml/2006/main">
            <a:off x="1381125" y="37719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Bounded</a:t>
            </a:r>
          </a:p>
        </p:txBody>
      </p:sp>
      <p:sp>
        <p:nvSpPr>
          <p:cNvPr id="11" name="">
            <a:extLst xmlns:a="http://schemas.openxmlformats.org/drawingml/2006/main">
              <a:ext uri="{FF2B5EF4-FFF2-40B4-BE49-F238E27FC236}">
                <a16:creationId xmlns:a16="http://schemas.microsoft.com/office/drawing/2014/main" id="{76C95C9A-F864-4CA8-8D64-746A4B896D2C}"/>
              </a:ext>
            </a:extLst>
          </p:cNvPr>
          <p:cNvSpPr>
            <a:spLocks xmlns:a="http://schemas.openxmlformats.org/drawingml/2006/main" noGrp="1"/>
          </p:cNvSpPr>
          <p:nvPr/>
        </p:nvSpPr>
        <p:spPr>
          <a:xfrm xmlns:a="http://schemas.openxmlformats.org/drawingml/2006/main">
            <a:off x="1381125" y="417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Five stocks; short windows; unequal groups; one event per company</a:t>
            </a:r>
          </a:p>
        </p:txBody>
      </p:sp>
      <p:sp>
        <p:nvSpPr>
          <p:cNvPr id="12" name="">
            <a:extLst xmlns:a="http://schemas.openxmlformats.org/drawingml/2006/main">
              <a:ext uri="{FF2B5EF4-FFF2-40B4-BE49-F238E27FC236}">
                <a16:creationId xmlns:a16="http://schemas.microsoft.com/office/drawing/2014/main" id="{64190D37-C568-4996-8549-E03194FA4AA4}"/>
              </a:ext>
            </a:extLst>
          </p:cNvPr>
          <p:cNvSpPr>
            <a:spLocks xmlns:a="http://schemas.openxmlformats.org/drawingml/2006/main" noGrp="1"/>
          </p:cNvSpPr>
          <p:nvPr/>
        </p:nvSpPr>
        <p:spPr>
          <a:xfrm xmlns:a="http://schemas.openxmlformats.org/drawingml/2006/main">
            <a:off x="609600" y="47815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75BC1060-0A64-41B7-B56D-4041335B7F93}"/>
              </a:ext>
            </a:extLst>
          </p:cNvPr>
          <p:cNvSpPr>
            <a:spLocks xmlns:a="http://schemas.openxmlformats.org/drawingml/2006/main" noGrp="1"/>
          </p:cNvSpPr>
          <p:nvPr/>
        </p:nvSpPr>
        <p:spPr>
          <a:xfrm xmlns:a="http://schemas.openxmlformats.org/drawingml/2006/main">
            <a:off x="1381125"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Still open</a:t>
            </a:r>
          </a:p>
        </p:txBody>
      </p:sp>
      <p:sp>
        <p:nvSpPr>
          <p:cNvPr id="14" name="">
            <a:extLst xmlns:a="http://schemas.openxmlformats.org/drawingml/2006/main">
              <a:ext uri="{FF2B5EF4-FFF2-40B4-BE49-F238E27FC236}">
                <a16:creationId xmlns:a16="http://schemas.microsoft.com/office/drawing/2014/main" id="{4A6999E4-FD21-46AE-8F19-D33E119ADBD0}"/>
              </a:ext>
            </a:extLst>
          </p:cNvPr>
          <p:cNvSpPr>
            <a:spLocks xmlns:a="http://schemas.openxmlformats.org/drawingml/2006/main" noGrp="1"/>
          </p:cNvSpPr>
          <p:nvPr/>
        </p:nvSpPr>
        <p:spPr>
          <a:xfrm xmlns:a="http://schemas.openxmlformats.org/drawingml/2006/main">
            <a:off x="1381125" y="5181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Release times, participant-time matching, threshold sensitivity, wider sample</a:t>
            </a:r>
          </a:p>
        </p:txBody>
      </p:sp>
    </p:spTree>
    <p:extLst>
      <p:ext uri="{BB962C8B-B14F-4D97-AF65-F5344CB8AC3E}">
        <p14:creationId xmlns:p14="http://schemas.microsoft.com/office/powerpoint/2010/main" val="1731562916"/>
      </p:ext>
    </p:extLst>
  </p:cSld>
</p:sld>
</file>

<file path=ppt/slides/slide1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4E6C42-7A17-4E46-BD54-36100C5CCB99}"/>
              </a:ext>
            </a:extLst>
          </p:cNvPr>
          <p:cNvSpPr>
            <a:spLocks xmlns:a="http://schemas.openxmlformats.org/drawingml/2006/main" noGrp="1"/>
          </p:cNvSpPr>
          <p:nvPr/>
        </p:nvSpPr>
        <p:spPr>
          <a:xfrm xmlns:a="http://schemas.openxmlformats.org/drawingml/2006/main">
            <a:off x="609600" y="2667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1">
                <a:solidFill>
                  <a:srgbClr val="007F86"/>
                </a:solidFill>
                <a:latin typeface="Arial"/>
                <a:ea typeface="Arial"/>
                <a:cs typeface="Arial"/>
              </a:defRPr>
            </a:defPPr>
          </a:lstStyle>
          <a:p xmlns:a="http://schemas.openxmlformats.org/drawingml/2006/main">
            <a:pPr>
              <a:defRPr sz="1125" b="1">
                <a:solidFill>
                  <a:srgbClr val="007F86"/>
                </a:solidFill>
                <a:latin typeface="Arial"/>
                <a:ea typeface="Arial"/>
                <a:cs typeface="Arial"/>
              </a:defRPr>
            </a:pPr>
            <a:r>
              <a:rPr sz="1125" b="1">
                <a:solidFill>
                  <a:srgbClr val="007F86"/>
                </a:solidFill>
                <a:latin typeface="Arial"/>
                <a:ea typeface="Arial"/>
                <a:cs typeface="Arial"/>
              </a:rPr>
              <a:t>EDGE / MGT 6785</a:t>
            </a:r>
          </a:p>
        </p:txBody>
      </p:sp>
      <p:sp>
        <p:nvSpPr>
          <p:cNvPr id="2" name="">
            <a:extLst xmlns:a="http://schemas.openxmlformats.org/drawingml/2006/main">
              <a:ext uri="{FF2B5EF4-FFF2-40B4-BE49-F238E27FC236}">
                <a16:creationId xmlns:a16="http://schemas.microsoft.com/office/drawing/2014/main" id="{A2E41A38-E135-40F1-9258-29E8713FCCF9}"/>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42C3B"/>
                </a:solidFill>
                <a:latin typeface="Arial"/>
                <a:ea typeface="Arial"/>
                <a:cs typeface="Arial"/>
              </a:defRPr>
            </a:defPPr>
          </a:lstStyle>
          <a:p xmlns:a="http://schemas.openxmlformats.org/drawingml/2006/main">
            <a:pPr>
              <a:defRPr sz="3000" b="1">
                <a:solidFill>
                  <a:srgbClr val="142C3B"/>
                </a:solidFill>
                <a:latin typeface="Arial"/>
                <a:ea typeface="Arial"/>
                <a:cs typeface="Arial"/>
              </a:defRPr>
            </a:pPr>
            <a:r>
              <a:rPr sz="3000" b="1">
                <a:solidFill>
                  <a:srgbClr val="142C3B"/>
                </a:solidFill>
                <a:latin typeface="Arial"/>
                <a:ea typeface="Arial"/>
                <a:cs typeface="Arial"/>
              </a:rPr>
              <a:t>A shareable package with a clear rerun path</a:t>
            </a:r>
          </a:p>
        </p:txBody>
      </p:sp>
      <p:sp>
        <p:nvSpPr>
          <p:cNvPr id="3" name="">
            <a:extLst xmlns:a="http://schemas.openxmlformats.org/drawingml/2006/main">
              <a:ext uri="{FF2B5EF4-FFF2-40B4-BE49-F238E27FC236}">
                <a16:creationId xmlns:a16="http://schemas.microsoft.com/office/drawing/2014/main" id="{CCF8CBCE-C353-4229-81DA-9479C5A7279E}"/>
              </a:ext>
            </a:extLst>
          </p:cNvPr>
          <p:cNvSpPr>
            <a:spLocks xmlns:a="http://schemas.openxmlformats.org/drawingml/2006/main" noGrp="1"/>
          </p:cNvSpPr>
          <p:nvPr/>
        </p:nvSpPr>
        <p:spPr>
          <a:xfrm xmlns:a="http://schemas.openxmlformats.org/drawingml/2006/main">
            <a:off x="609600" y="1790700"/>
            <a:ext cx="1095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Code + pinned environments + aggregate report + local licensed data</a:t>
            </a:r>
          </a:p>
        </p:txBody>
      </p:sp>
      <p:sp>
        <p:nvSpPr>
          <p:cNvPr id="4" name="">
            <a:extLst xmlns:a="http://schemas.openxmlformats.org/drawingml/2006/main">
              <a:ext uri="{FF2B5EF4-FFF2-40B4-BE49-F238E27FC236}">
                <a16:creationId xmlns:a16="http://schemas.microsoft.com/office/drawing/2014/main" id="{FA804520-8D46-477D-BD22-4689FE13DF54}"/>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0">
                <a:solidFill>
                  <a:srgbClr val="526570"/>
                </a:solidFill>
                <a:latin typeface="Arial"/>
                <a:ea typeface="Arial"/>
                <a:cs typeface="Arial"/>
              </a:defRPr>
            </a:defPPr>
          </a:lstStyle>
          <a:p xmlns:a="http://schemas.openxmlformats.org/drawingml/2006/main">
            <a:pPr>
              <a:defRPr sz="975" b="0">
                <a:solidFill>
                  <a:srgbClr val="526570"/>
                </a:solidFill>
                <a:latin typeface="Arial"/>
                <a:ea typeface="Arial"/>
                <a:cs typeface="Arial"/>
              </a:defRPr>
            </a:pPr>
            <a:r>
              <a:rPr sz="975" b="0">
                <a:solidFill>
                  <a:srgbClr val="526570"/>
                </a:solidFill>
                <a:latin typeface="Arial"/>
                <a:ea typeface="Arial"/>
                <a:cs typeface="Arial"/>
              </a:rPr>
              <a:t>Ardia, Guidotti &amp; Kroencke (2024) · WRDS extracts · Project calculations</a:t>
            </a:r>
          </a:p>
        </p:txBody>
      </p:sp>
      <p:sp>
        <p:nvSpPr>
          <p:cNvPr id="5" name="">
            <a:extLst xmlns:a="http://schemas.openxmlformats.org/drawingml/2006/main">
              <a:ext uri="{FF2B5EF4-FFF2-40B4-BE49-F238E27FC236}">
                <a16:creationId xmlns:a16="http://schemas.microsoft.com/office/drawing/2014/main" id="{ADAE81D9-320A-4D9D-9272-F7F5C4BA2CA1}"/>
              </a:ext>
            </a:extLst>
          </p:cNvPr>
          <p:cNvSpPr>
            <a:spLocks xmlns:a="http://schemas.openxmlformats.org/drawingml/2006/main" noGrp="1"/>
          </p:cNvSpPr>
          <p:nvPr/>
        </p:nvSpPr>
        <p:spPr>
          <a:xfrm xmlns:a="http://schemas.openxmlformats.org/drawingml/2006/main">
            <a:off x="1114425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86"/>
                </a:solidFill>
                <a:latin typeface="Arial"/>
                <a:ea typeface="Arial"/>
                <a:cs typeface="Arial"/>
              </a:defRPr>
            </a:defPPr>
          </a:lstStyle>
          <a:p xmlns:a="http://schemas.openxmlformats.org/drawingml/2006/main">
            <a:pPr>
              <a:defRPr sz="1275" b="1">
                <a:solidFill>
                  <a:srgbClr val="007F86"/>
                </a:solidFill>
                <a:latin typeface="Arial"/>
                <a:ea typeface="Arial"/>
                <a:cs typeface="Arial"/>
              </a:defRPr>
            </a:pPr>
            <a:r>
              <a:rPr sz="1275" b="1">
                <a:solidFill>
                  <a:srgbClr val="007F86"/>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7EBFA7B9-B6C6-4B90-BCCE-B9DA18E7FD7C}"/>
              </a:ext>
            </a:extLst>
          </p:cNvPr>
          <p:cNvSpPr>
            <a:spLocks xmlns:a="http://schemas.openxmlformats.org/drawingml/2006/main" noGrp="1"/>
          </p:cNvSpPr>
          <p:nvPr/>
        </p:nvSpPr>
        <p:spPr>
          <a:xfrm xmlns:a="http://schemas.openxmlformats.org/drawingml/2006/main">
            <a:off x="609600" y="27622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81D4281A-650A-4B0E-8E2B-9F28D429D873}"/>
              </a:ext>
            </a:extLst>
          </p:cNvPr>
          <p:cNvSpPr>
            <a:spLocks xmlns:a="http://schemas.openxmlformats.org/drawingml/2006/main" noGrp="1"/>
          </p:cNvSpPr>
          <p:nvPr/>
        </p:nvSpPr>
        <p:spPr>
          <a:xfrm xmlns:a="http://schemas.openxmlformats.org/drawingml/2006/main">
            <a:off x="1381125" y="27622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Repository</a:t>
            </a:r>
          </a:p>
        </p:txBody>
      </p:sp>
      <p:sp>
        <p:nvSpPr>
          <p:cNvPr id="8" name="">
            <a:extLst xmlns:a="http://schemas.openxmlformats.org/drawingml/2006/main">
              <a:ext uri="{FF2B5EF4-FFF2-40B4-BE49-F238E27FC236}">
                <a16:creationId xmlns:a16="http://schemas.microsoft.com/office/drawing/2014/main" id="{6FDCC10F-3ADC-4E46-B840-2D37150945D7}"/>
              </a:ext>
            </a:extLst>
          </p:cNvPr>
          <p:cNvSpPr>
            <a:spLocks xmlns:a="http://schemas.openxmlformats.org/drawingml/2006/main" noGrp="1"/>
          </p:cNvSpPr>
          <p:nvPr/>
        </p:nvSpPr>
        <p:spPr>
          <a:xfrm xmlns:a="http://schemas.openxmlformats.org/drawingml/2006/main">
            <a:off x="1381125" y="31623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github.com/LQ-09/edge-replication</a:t>
            </a:r>
          </a:p>
        </p:txBody>
      </p:sp>
      <p:sp>
        <p:nvSpPr>
          <p:cNvPr id="9" name="">
            <a:extLst xmlns:a="http://schemas.openxmlformats.org/drawingml/2006/main">
              <a:ext uri="{FF2B5EF4-FFF2-40B4-BE49-F238E27FC236}">
                <a16:creationId xmlns:a16="http://schemas.microsoft.com/office/drawing/2014/main" id="{EEB38E54-8F82-4AC8-9DB9-59B4814BF186}"/>
              </a:ext>
            </a:extLst>
          </p:cNvPr>
          <p:cNvSpPr>
            <a:spLocks xmlns:a="http://schemas.openxmlformats.org/drawingml/2006/main" noGrp="1"/>
          </p:cNvSpPr>
          <p:nvPr/>
        </p:nvSpPr>
        <p:spPr>
          <a:xfrm xmlns:a="http://schemas.openxmlformats.org/drawingml/2006/main">
            <a:off x="609600" y="377190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905CE92-D73A-4EC4-A2CF-8015DFD4A78B}"/>
              </a:ext>
            </a:extLst>
          </p:cNvPr>
          <p:cNvSpPr>
            <a:spLocks xmlns:a="http://schemas.openxmlformats.org/drawingml/2006/main" noGrp="1"/>
          </p:cNvSpPr>
          <p:nvPr/>
        </p:nvSpPr>
        <p:spPr>
          <a:xfrm xmlns:a="http://schemas.openxmlformats.org/drawingml/2006/main">
            <a:off x="1381125" y="37719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Rerun</a:t>
            </a:r>
          </a:p>
        </p:txBody>
      </p:sp>
      <p:sp>
        <p:nvSpPr>
          <p:cNvPr id="11" name="">
            <a:extLst xmlns:a="http://schemas.openxmlformats.org/drawingml/2006/main">
              <a:ext uri="{FF2B5EF4-FFF2-40B4-BE49-F238E27FC236}">
                <a16:creationId xmlns:a16="http://schemas.microsoft.com/office/drawing/2014/main" id="{9F6E99E7-AC01-46DA-961E-A6F8FFDCC1F4}"/>
              </a:ext>
            </a:extLst>
          </p:cNvPr>
          <p:cNvSpPr>
            <a:spLocks xmlns:a="http://schemas.openxmlformats.org/drawingml/2006/main" noGrp="1"/>
          </p:cNvSpPr>
          <p:nvPr/>
        </p:nvSpPr>
        <p:spPr>
          <a:xfrm xmlns:a="http://schemas.openxmlformats.org/drawingml/2006/main">
            <a:off x="1381125" y="41719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Simulation: dependencies. Empirical: dependencies + authorized WRDS extracts.</a:t>
            </a:r>
          </a:p>
        </p:txBody>
      </p:sp>
      <p:sp>
        <p:nvSpPr>
          <p:cNvPr id="12" name="">
            <a:extLst xmlns:a="http://schemas.openxmlformats.org/drawingml/2006/main">
              <a:ext uri="{FF2B5EF4-FFF2-40B4-BE49-F238E27FC236}">
                <a16:creationId xmlns:a16="http://schemas.microsoft.com/office/drawing/2014/main" id="{2A24CBC1-FD51-4432-9F16-4606ADC6AAA8}"/>
              </a:ext>
            </a:extLst>
          </p:cNvPr>
          <p:cNvSpPr>
            <a:spLocks xmlns:a="http://schemas.openxmlformats.org/drawingml/2006/main" noGrp="1"/>
          </p:cNvSpPr>
          <p:nvPr/>
        </p:nvSpPr>
        <p:spPr>
          <a:xfrm xmlns:a="http://schemas.openxmlformats.org/drawingml/2006/main">
            <a:off x="609600" y="4781550"/>
            <a:ext cx="590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latin typeface="Arial"/>
                <a:ea typeface="Arial"/>
                <a:cs typeface="Arial"/>
              </a:defRPr>
            </a:defPPr>
          </a:lstStyle>
          <a:p xmlns:a="http://schemas.openxmlformats.org/drawingml/2006/main">
            <a:pPr>
              <a:defRPr sz="1950" b="1">
                <a:solidFill>
                  <a:srgbClr val="007F86"/>
                </a:solidFill>
                <a:latin typeface="Arial"/>
                <a:ea typeface="Arial"/>
                <a:cs typeface="Arial"/>
              </a:defRPr>
            </a:pPr>
            <a:r>
              <a:rPr sz="1950" b="1">
                <a:solidFill>
                  <a:srgbClr val="007F86"/>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7F56CAE-BDE9-493C-8D15-2A18911F2366}"/>
              </a:ext>
            </a:extLst>
          </p:cNvPr>
          <p:cNvSpPr>
            <a:spLocks xmlns:a="http://schemas.openxmlformats.org/drawingml/2006/main" noGrp="1"/>
          </p:cNvSpPr>
          <p:nvPr/>
        </p:nvSpPr>
        <p:spPr>
          <a:xfrm xmlns:a="http://schemas.openxmlformats.org/drawingml/2006/main">
            <a:off x="1381125" y="47815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42C3B"/>
                </a:solidFill>
                <a:latin typeface="Arial"/>
                <a:ea typeface="Arial"/>
                <a:cs typeface="Arial"/>
              </a:defRPr>
            </a:defPPr>
          </a:lstStyle>
          <a:p xmlns:a="http://schemas.openxmlformats.org/drawingml/2006/main">
            <a:pPr>
              <a:defRPr sz="2025" b="1">
                <a:solidFill>
                  <a:srgbClr val="142C3B"/>
                </a:solidFill>
                <a:latin typeface="Arial"/>
                <a:ea typeface="Arial"/>
                <a:cs typeface="Arial"/>
              </a:defRPr>
            </a:pPr>
            <a:r>
              <a:rPr sz="2025" b="1">
                <a:solidFill>
                  <a:srgbClr val="142C3B"/>
                </a:solidFill>
                <a:latin typeface="Arial"/>
                <a:ea typeface="Arial"/>
                <a:cs typeface="Arial"/>
              </a:rPr>
              <a:t>Midterm handoff</a:t>
            </a:r>
          </a:p>
        </p:txBody>
      </p:sp>
      <p:sp>
        <p:nvSpPr>
          <p:cNvPr id="14" name="">
            <a:extLst xmlns:a="http://schemas.openxmlformats.org/drawingml/2006/main">
              <a:ext uri="{FF2B5EF4-FFF2-40B4-BE49-F238E27FC236}">
                <a16:creationId xmlns:a16="http://schemas.microsoft.com/office/drawing/2014/main" id="{A968EB1A-A08A-430F-9F6E-4EDA9DD5F19A}"/>
              </a:ext>
            </a:extLst>
          </p:cNvPr>
          <p:cNvSpPr>
            <a:spLocks xmlns:a="http://schemas.openxmlformats.org/drawingml/2006/main" noGrp="1"/>
          </p:cNvSpPr>
          <p:nvPr/>
        </p:nvSpPr>
        <p:spPr>
          <a:xfrm xmlns:a="http://schemas.openxmlformats.org/drawingml/2006/main">
            <a:off x="1381125" y="518160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570"/>
                </a:solidFill>
                <a:latin typeface="Arial"/>
                <a:ea typeface="Arial"/>
                <a:cs typeface="Arial"/>
              </a:defRPr>
            </a:defPPr>
          </a:lstStyle>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Report and slides ready; student records and submits to Canvas.</a:t>
            </a:r>
          </a:p>
        </p:txBody>
      </p:sp>
    </p:spTree>
    <p:extLst>
      <p:ext uri="{BB962C8B-B14F-4D97-AF65-F5344CB8AC3E}">
        <p14:creationId xmlns:p14="http://schemas.microsoft.com/office/powerpoint/2010/main" val="6220421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2026-10-15T16:50:47.7620000Z</dcterms:created>
  <dcterms:modified xsi:type="dcterms:W3CDTF">2026-10-15T16:50:47.7620000Z</dcterms:modified>
</coreProperties>
</file>